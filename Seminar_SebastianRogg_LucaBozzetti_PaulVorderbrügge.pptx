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355" r:id="rId2"/>
    <p:sldId id="362" r:id="rId3"/>
    <p:sldId id="266" r:id="rId4"/>
    <p:sldId id="358" r:id="rId5"/>
    <p:sldId id="363" r:id="rId6"/>
    <p:sldId id="263" r:id="rId7"/>
    <p:sldId id="264" r:id="rId8"/>
    <p:sldId id="365" r:id="rId9"/>
    <p:sldId id="366" r:id="rId10"/>
    <p:sldId id="367" r:id="rId11"/>
    <p:sldId id="368" r:id="rId12"/>
    <p:sldId id="386" r:id="rId13"/>
    <p:sldId id="260" r:id="rId14"/>
    <p:sldId id="292" r:id="rId15"/>
    <p:sldId id="385" r:id="rId16"/>
    <p:sldId id="295" r:id="rId17"/>
    <p:sldId id="269" r:id="rId18"/>
    <p:sldId id="356" r:id="rId19"/>
    <p:sldId id="281" r:id="rId20"/>
    <p:sldId id="280" r:id="rId21"/>
    <p:sldId id="282" r:id="rId22"/>
    <p:sldId id="285" r:id="rId23"/>
    <p:sldId id="283" r:id="rId24"/>
    <p:sldId id="286" r:id="rId25"/>
    <p:sldId id="289" r:id="rId26"/>
    <p:sldId id="290" r:id="rId27"/>
    <p:sldId id="291" r:id="rId28"/>
    <p:sldId id="293" r:id="rId29"/>
    <p:sldId id="279" r:id="rId30"/>
    <p:sldId id="274" r:id="rId31"/>
    <p:sldId id="276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8" r:id="rId41"/>
    <p:sldId id="387" r:id="rId42"/>
    <p:sldId id="377" r:id="rId43"/>
    <p:sldId id="379" r:id="rId44"/>
    <p:sldId id="380" r:id="rId45"/>
    <p:sldId id="383" r:id="rId46"/>
    <p:sldId id="381" r:id="rId47"/>
    <p:sldId id="382" r:id="rId48"/>
    <p:sldId id="384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87" autoAdjust="0"/>
    <p:restoredTop sz="94682"/>
  </p:normalViewPr>
  <p:slideViewPr>
    <p:cSldViewPr snapToGrid="0">
      <p:cViewPr varScale="1">
        <p:scale>
          <a:sx n="115" d="100"/>
          <a:sy n="115" d="100"/>
        </p:scale>
        <p:origin x="14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C38C6-FFBD-4318-9EFD-9FF36BC87F3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52288E-CB9F-47F3-BCFF-50C47B6FE3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Foundations</a:t>
          </a:r>
          <a:endParaRPr lang="en-US"/>
        </a:p>
      </dgm:t>
    </dgm:pt>
    <dgm:pt modelId="{D9833E30-E5D9-4DEF-BD22-8F45F17028CB}" type="parTrans" cxnId="{AFBD7CC4-8599-46CD-8AF2-B923C6454A2A}">
      <dgm:prSet/>
      <dgm:spPr/>
      <dgm:t>
        <a:bodyPr/>
        <a:lstStyle/>
        <a:p>
          <a:endParaRPr lang="en-US"/>
        </a:p>
      </dgm:t>
    </dgm:pt>
    <dgm:pt modelId="{CCE6410F-6D6A-4A37-A16B-090C757EDC5B}" type="sibTrans" cxnId="{AFBD7CC4-8599-46CD-8AF2-B923C6454A2A}">
      <dgm:prSet/>
      <dgm:spPr/>
      <dgm:t>
        <a:bodyPr/>
        <a:lstStyle/>
        <a:p>
          <a:endParaRPr lang="en-US"/>
        </a:p>
      </dgm:t>
    </dgm:pt>
    <dgm:pt modelId="{68C5D6A6-7A72-428C-8B6C-E2DA782544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Algorithm</a:t>
          </a:r>
          <a:endParaRPr lang="en-US"/>
        </a:p>
      </dgm:t>
    </dgm:pt>
    <dgm:pt modelId="{3B8EC43B-85F2-4488-A29A-E9912B1B52CF}" type="parTrans" cxnId="{56D7AAA6-A616-428B-B1F5-89F87C75CD34}">
      <dgm:prSet/>
      <dgm:spPr/>
      <dgm:t>
        <a:bodyPr/>
        <a:lstStyle/>
        <a:p>
          <a:endParaRPr lang="en-US"/>
        </a:p>
      </dgm:t>
    </dgm:pt>
    <dgm:pt modelId="{F7C5E595-BD2B-45F2-B72C-12D59FCC5815}" type="sibTrans" cxnId="{56D7AAA6-A616-428B-B1F5-89F87C75CD34}">
      <dgm:prSet/>
      <dgm:spPr/>
      <dgm:t>
        <a:bodyPr/>
        <a:lstStyle/>
        <a:p>
          <a:endParaRPr lang="en-US"/>
        </a:p>
      </dgm:t>
    </dgm:pt>
    <dgm:pt modelId="{CD9ED3A9-EDE6-4FA7-B168-FB16E63A49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 dirty="0"/>
            <a:t>Code</a:t>
          </a:r>
          <a:endParaRPr lang="en-US" dirty="0"/>
        </a:p>
      </dgm:t>
    </dgm:pt>
    <dgm:pt modelId="{658A5174-0474-49FD-95F0-9112DE8CE5CF}" type="parTrans" cxnId="{54487600-03B0-4704-9527-2E2EA61A5100}">
      <dgm:prSet/>
      <dgm:spPr/>
      <dgm:t>
        <a:bodyPr/>
        <a:lstStyle/>
        <a:p>
          <a:endParaRPr lang="en-US"/>
        </a:p>
      </dgm:t>
    </dgm:pt>
    <dgm:pt modelId="{298D19ED-D263-449E-B74C-366AB475EFF0}" type="sibTrans" cxnId="{54487600-03B0-4704-9527-2E2EA61A5100}">
      <dgm:prSet/>
      <dgm:spPr/>
      <dgm:t>
        <a:bodyPr/>
        <a:lstStyle/>
        <a:p>
          <a:endParaRPr lang="en-US"/>
        </a:p>
      </dgm:t>
    </dgm:pt>
    <dgm:pt modelId="{4E72F1CD-0B1E-429B-9A7D-2268ADD116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Results &amp; Outlook</a:t>
          </a:r>
          <a:endParaRPr lang="en-US"/>
        </a:p>
      </dgm:t>
    </dgm:pt>
    <dgm:pt modelId="{680C095B-0B13-4CE4-8FAE-EDB8ADFF4C86}" type="parTrans" cxnId="{0A3ED30A-14F6-43C2-921A-DBEEC5CD458C}">
      <dgm:prSet/>
      <dgm:spPr/>
      <dgm:t>
        <a:bodyPr/>
        <a:lstStyle/>
        <a:p>
          <a:endParaRPr lang="en-US"/>
        </a:p>
      </dgm:t>
    </dgm:pt>
    <dgm:pt modelId="{7E400827-060E-4398-B860-2FA39E6A02D8}" type="sibTrans" cxnId="{0A3ED30A-14F6-43C2-921A-DBEEC5CD458C}">
      <dgm:prSet/>
      <dgm:spPr/>
      <dgm:t>
        <a:bodyPr/>
        <a:lstStyle/>
        <a:p>
          <a:endParaRPr lang="en-US"/>
        </a:p>
      </dgm:t>
    </dgm:pt>
    <dgm:pt modelId="{23521377-A4D0-4111-AB05-4298D5C58A82}" type="pres">
      <dgm:prSet presAssocID="{AB5C38C6-FFBD-4318-9EFD-9FF36BC87F32}" presName="root" presStyleCnt="0">
        <dgm:presLayoutVars>
          <dgm:dir/>
          <dgm:resizeHandles val="exact"/>
        </dgm:presLayoutVars>
      </dgm:prSet>
      <dgm:spPr/>
    </dgm:pt>
    <dgm:pt modelId="{16C47107-C202-4B99-BAB3-94C88480D116}" type="pres">
      <dgm:prSet presAssocID="{4552288E-CB9F-47F3-BCFF-50C47B6FE36D}" presName="compNode" presStyleCnt="0"/>
      <dgm:spPr/>
    </dgm:pt>
    <dgm:pt modelId="{6196FB52-C783-418D-8CDB-F95A097B4996}" type="pres">
      <dgm:prSet presAssocID="{4552288E-CB9F-47F3-BCFF-50C47B6FE36D}" presName="iconBgRect" presStyleLbl="bgShp" presStyleIdx="0" presStyleCnt="4"/>
      <dgm:spPr/>
    </dgm:pt>
    <dgm:pt modelId="{F3095D31-A3C1-46D8-8158-1A39A6345F49}" type="pres">
      <dgm:prSet presAssocID="{4552288E-CB9F-47F3-BCFF-50C47B6FE3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ntalHealth"/>
        </a:ext>
      </dgm:extLst>
    </dgm:pt>
    <dgm:pt modelId="{75F2F889-AC2A-468D-B7EF-1A0D5E40FDC2}" type="pres">
      <dgm:prSet presAssocID="{4552288E-CB9F-47F3-BCFF-50C47B6FE36D}" presName="spaceRect" presStyleCnt="0"/>
      <dgm:spPr/>
    </dgm:pt>
    <dgm:pt modelId="{0C37C17B-29A6-4DF4-98AC-C51880495551}" type="pres">
      <dgm:prSet presAssocID="{4552288E-CB9F-47F3-BCFF-50C47B6FE36D}" presName="textRect" presStyleLbl="revTx" presStyleIdx="0" presStyleCnt="4">
        <dgm:presLayoutVars>
          <dgm:chMax val="1"/>
          <dgm:chPref val="1"/>
        </dgm:presLayoutVars>
      </dgm:prSet>
      <dgm:spPr/>
    </dgm:pt>
    <dgm:pt modelId="{C26A39B1-3659-42CE-B291-7F751EB35033}" type="pres">
      <dgm:prSet presAssocID="{CCE6410F-6D6A-4A37-A16B-090C757EDC5B}" presName="sibTrans" presStyleCnt="0"/>
      <dgm:spPr/>
    </dgm:pt>
    <dgm:pt modelId="{0BDABE6E-1C50-4236-A5D6-FD81A2B94E06}" type="pres">
      <dgm:prSet presAssocID="{68C5D6A6-7A72-428C-8B6C-E2DA7825440C}" presName="compNode" presStyleCnt="0"/>
      <dgm:spPr/>
    </dgm:pt>
    <dgm:pt modelId="{BBB11099-9AA4-417F-9518-77A6CB83A74D}" type="pres">
      <dgm:prSet presAssocID="{68C5D6A6-7A72-428C-8B6C-E2DA7825440C}" presName="iconBgRect" presStyleLbl="bgShp" presStyleIdx="1" presStyleCnt="4"/>
      <dgm:spPr/>
    </dgm:pt>
    <dgm:pt modelId="{4FEA1120-B015-4F28-96AB-38DA53C48FD3}" type="pres">
      <dgm:prSet presAssocID="{68C5D6A6-7A72-428C-8B6C-E2DA782544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34E91EA-0F08-498F-9266-CE1A418B9E8C}" type="pres">
      <dgm:prSet presAssocID="{68C5D6A6-7A72-428C-8B6C-E2DA7825440C}" presName="spaceRect" presStyleCnt="0"/>
      <dgm:spPr/>
    </dgm:pt>
    <dgm:pt modelId="{88083345-31D1-45D6-B0A9-7EB89A607322}" type="pres">
      <dgm:prSet presAssocID="{68C5D6A6-7A72-428C-8B6C-E2DA7825440C}" presName="textRect" presStyleLbl="revTx" presStyleIdx="1" presStyleCnt="4">
        <dgm:presLayoutVars>
          <dgm:chMax val="1"/>
          <dgm:chPref val="1"/>
        </dgm:presLayoutVars>
      </dgm:prSet>
      <dgm:spPr/>
    </dgm:pt>
    <dgm:pt modelId="{9D3BDA6E-7E0B-45D8-98A5-88595FA12C6C}" type="pres">
      <dgm:prSet presAssocID="{F7C5E595-BD2B-45F2-B72C-12D59FCC5815}" presName="sibTrans" presStyleCnt="0"/>
      <dgm:spPr/>
    </dgm:pt>
    <dgm:pt modelId="{77F973B1-8CA0-4D18-B2ED-8FD4075B3A8A}" type="pres">
      <dgm:prSet presAssocID="{CD9ED3A9-EDE6-4FA7-B168-FB16E63A4975}" presName="compNode" presStyleCnt="0"/>
      <dgm:spPr/>
    </dgm:pt>
    <dgm:pt modelId="{2DA37BBD-F65C-4BF5-865D-4397F563C4C9}" type="pres">
      <dgm:prSet presAssocID="{CD9ED3A9-EDE6-4FA7-B168-FB16E63A4975}" presName="iconBgRect" presStyleLbl="bgShp" presStyleIdx="2" presStyleCnt="4"/>
      <dgm:spPr/>
    </dgm:pt>
    <dgm:pt modelId="{DF9349BC-6A52-4681-9577-055BD616CC5F}" type="pres">
      <dgm:prSet presAssocID="{CD9ED3A9-EDE6-4FA7-B168-FB16E63A49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150E9CAC-D3D5-4610-97F8-1204BDEFC50E}" type="pres">
      <dgm:prSet presAssocID="{CD9ED3A9-EDE6-4FA7-B168-FB16E63A4975}" presName="spaceRect" presStyleCnt="0"/>
      <dgm:spPr/>
    </dgm:pt>
    <dgm:pt modelId="{8FBB5DBF-F10F-4A77-9DB0-A2D80E414ECF}" type="pres">
      <dgm:prSet presAssocID="{CD9ED3A9-EDE6-4FA7-B168-FB16E63A4975}" presName="textRect" presStyleLbl="revTx" presStyleIdx="2" presStyleCnt="4">
        <dgm:presLayoutVars>
          <dgm:chMax val="1"/>
          <dgm:chPref val="1"/>
        </dgm:presLayoutVars>
      </dgm:prSet>
      <dgm:spPr/>
    </dgm:pt>
    <dgm:pt modelId="{13ABF9E1-DB5B-48A1-ADD7-1C15CC31C97D}" type="pres">
      <dgm:prSet presAssocID="{298D19ED-D263-449E-B74C-366AB475EFF0}" presName="sibTrans" presStyleCnt="0"/>
      <dgm:spPr/>
    </dgm:pt>
    <dgm:pt modelId="{12D8136B-2881-486E-9682-EFE0114B5BEC}" type="pres">
      <dgm:prSet presAssocID="{4E72F1CD-0B1E-429B-9A7D-2268ADD11686}" presName="compNode" presStyleCnt="0"/>
      <dgm:spPr/>
    </dgm:pt>
    <dgm:pt modelId="{4A07DC01-4541-47C5-8D0A-1CAB8534BDD7}" type="pres">
      <dgm:prSet presAssocID="{4E72F1CD-0B1E-429B-9A7D-2268ADD11686}" presName="iconBgRect" presStyleLbl="bgShp" presStyleIdx="3" presStyleCnt="4"/>
      <dgm:spPr/>
    </dgm:pt>
    <dgm:pt modelId="{28817059-4B78-4CEF-B8B6-599C1856051D}" type="pres">
      <dgm:prSet presAssocID="{4E72F1CD-0B1E-429B-9A7D-2268ADD116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32BEEC6-E3A9-48CF-94F1-77CEC0286E90}" type="pres">
      <dgm:prSet presAssocID="{4E72F1CD-0B1E-429B-9A7D-2268ADD11686}" presName="spaceRect" presStyleCnt="0"/>
      <dgm:spPr/>
    </dgm:pt>
    <dgm:pt modelId="{0DF8A387-FEC2-48D0-9EEB-7CE855BB05F7}" type="pres">
      <dgm:prSet presAssocID="{4E72F1CD-0B1E-429B-9A7D-2268ADD116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487600-03B0-4704-9527-2E2EA61A5100}" srcId="{AB5C38C6-FFBD-4318-9EFD-9FF36BC87F32}" destId="{CD9ED3A9-EDE6-4FA7-B168-FB16E63A4975}" srcOrd="2" destOrd="0" parTransId="{658A5174-0474-49FD-95F0-9112DE8CE5CF}" sibTransId="{298D19ED-D263-449E-B74C-366AB475EFF0}"/>
    <dgm:cxn modelId="{0A3ED30A-14F6-43C2-921A-DBEEC5CD458C}" srcId="{AB5C38C6-FFBD-4318-9EFD-9FF36BC87F32}" destId="{4E72F1CD-0B1E-429B-9A7D-2268ADD11686}" srcOrd="3" destOrd="0" parTransId="{680C095B-0B13-4CE4-8FAE-EDB8ADFF4C86}" sibTransId="{7E400827-060E-4398-B860-2FA39E6A02D8}"/>
    <dgm:cxn modelId="{01C60E0F-E76C-4424-9A2C-E0ACA00251AB}" type="presOf" srcId="{68C5D6A6-7A72-428C-8B6C-E2DA7825440C}" destId="{88083345-31D1-45D6-B0A9-7EB89A607322}" srcOrd="0" destOrd="0" presId="urn:microsoft.com/office/officeart/2018/5/layout/IconCircleLabelList"/>
    <dgm:cxn modelId="{56D7AAA6-A616-428B-B1F5-89F87C75CD34}" srcId="{AB5C38C6-FFBD-4318-9EFD-9FF36BC87F32}" destId="{68C5D6A6-7A72-428C-8B6C-E2DA7825440C}" srcOrd="1" destOrd="0" parTransId="{3B8EC43B-85F2-4488-A29A-E9912B1B52CF}" sibTransId="{F7C5E595-BD2B-45F2-B72C-12D59FCC5815}"/>
    <dgm:cxn modelId="{13A79FAF-F4B4-4102-B6D6-EE02235F2FE4}" type="presOf" srcId="{AB5C38C6-FFBD-4318-9EFD-9FF36BC87F32}" destId="{23521377-A4D0-4111-AB05-4298D5C58A82}" srcOrd="0" destOrd="0" presId="urn:microsoft.com/office/officeart/2018/5/layout/IconCircleLabelList"/>
    <dgm:cxn modelId="{2F717DB0-84D7-4CF7-8435-FC47FB188500}" type="presOf" srcId="{4E72F1CD-0B1E-429B-9A7D-2268ADD11686}" destId="{0DF8A387-FEC2-48D0-9EEB-7CE855BB05F7}" srcOrd="0" destOrd="0" presId="urn:microsoft.com/office/officeart/2018/5/layout/IconCircleLabelList"/>
    <dgm:cxn modelId="{AFBD7CC4-8599-46CD-8AF2-B923C6454A2A}" srcId="{AB5C38C6-FFBD-4318-9EFD-9FF36BC87F32}" destId="{4552288E-CB9F-47F3-BCFF-50C47B6FE36D}" srcOrd="0" destOrd="0" parTransId="{D9833E30-E5D9-4DEF-BD22-8F45F17028CB}" sibTransId="{CCE6410F-6D6A-4A37-A16B-090C757EDC5B}"/>
    <dgm:cxn modelId="{17C14CC5-613E-426E-9932-7997E854A062}" type="presOf" srcId="{4552288E-CB9F-47F3-BCFF-50C47B6FE36D}" destId="{0C37C17B-29A6-4DF4-98AC-C51880495551}" srcOrd="0" destOrd="0" presId="urn:microsoft.com/office/officeart/2018/5/layout/IconCircleLabelList"/>
    <dgm:cxn modelId="{80713EE5-8477-4455-9275-CCDF5D4036CB}" type="presOf" srcId="{CD9ED3A9-EDE6-4FA7-B168-FB16E63A4975}" destId="{8FBB5DBF-F10F-4A77-9DB0-A2D80E414ECF}" srcOrd="0" destOrd="0" presId="urn:microsoft.com/office/officeart/2018/5/layout/IconCircleLabelList"/>
    <dgm:cxn modelId="{A2D1BB84-7F7D-40F3-AD03-49D51D71E40A}" type="presParOf" srcId="{23521377-A4D0-4111-AB05-4298D5C58A82}" destId="{16C47107-C202-4B99-BAB3-94C88480D116}" srcOrd="0" destOrd="0" presId="urn:microsoft.com/office/officeart/2018/5/layout/IconCircleLabelList"/>
    <dgm:cxn modelId="{16FB6ACC-6641-470D-AD78-F84981D16F77}" type="presParOf" srcId="{16C47107-C202-4B99-BAB3-94C88480D116}" destId="{6196FB52-C783-418D-8CDB-F95A097B4996}" srcOrd="0" destOrd="0" presId="urn:microsoft.com/office/officeart/2018/5/layout/IconCircleLabelList"/>
    <dgm:cxn modelId="{154D8355-B08D-4CD3-86AD-654D78561712}" type="presParOf" srcId="{16C47107-C202-4B99-BAB3-94C88480D116}" destId="{F3095D31-A3C1-46D8-8158-1A39A6345F49}" srcOrd="1" destOrd="0" presId="urn:microsoft.com/office/officeart/2018/5/layout/IconCircleLabelList"/>
    <dgm:cxn modelId="{D4BEF582-633D-4F11-89A9-AD6E8BA24A0B}" type="presParOf" srcId="{16C47107-C202-4B99-BAB3-94C88480D116}" destId="{75F2F889-AC2A-468D-B7EF-1A0D5E40FDC2}" srcOrd="2" destOrd="0" presId="urn:microsoft.com/office/officeart/2018/5/layout/IconCircleLabelList"/>
    <dgm:cxn modelId="{426A007A-C706-42B4-965D-D13535EA2364}" type="presParOf" srcId="{16C47107-C202-4B99-BAB3-94C88480D116}" destId="{0C37C17B-29A6-4DF4-98AC-C51880495551}" srcOrd="3" destOrd="0" presId="urn:microsoft.com/office/officeart/2018/5/layout/IconCircleLabelList"/>
    <dgm:cxn modelId="{3F48042E-7920-4858-811C-683D155F2640}" type="presParOf" srcId="{23521377-A4D0-4111-AB05-4298D5C58A82}" destId="{C26A39B1-3659-42CE-B291-7F751EB35033}" srcOrd="1" destOrd="0" presId="urn:microsoft.com/office/officeart/2018/5/layout/IconCircleLabelList"/>
    <dgm:cxn modelId="{777EB12E-7706-45A4-B40A-59D627C42F0C}" type="presParOf" srcId="{23521377-A4D0-4111-AB05-4298D5C58A82}" destId="{0BDABE6E-1C50-4236-A5D6-FD81A2B94E06}" srcOrd="2" destOrd="0" presId="urn:microsoft.com/office/officeart/2018/5/layout/IconCircleLabelList"/>
    <dgm:cxn modelId="{FE56CB25-8B10-40C3-AC6F-FA8F0CCDCF46}" type="presParOf" srcId="{0BDABE6E-1C50-4236-A5D6-FD81A2B94E06}" destId="{BBB11099-9AA4-417F-9518-77A6CB83A74D}" srcOrd="0" destOrd="0" presId="urn:microsoft.com/office/officeart/2018/5/layout/IconCircleLabelList"/>
    <dgm:cxn modelId="{EBCB0571-AE99-46EF-BF33-06F915EFD9E1}" type="presParOf" srcId="{0BDABE6E-1C50-4236-A5D6-FD81A2B94E06}" destId="{4FEA1120-B015-4F28-96AB-38DA53C48FD3}" srcOrd="1" destOrd="0" presId="urn:microsoft.com/office/officeart/2018/5/layout/IconCircleLabelList"/>
    <dgm:cxn modelId="{1F5BB12F-68E6-4A65-AA06-65376A814299}" type="presParOf" srcId="{0BDABE6E-1C50-4236-A5D6-FD81A2B94E06}" destId="{934E91EA-0F08-498F-9266-CE1A418B9E8C}" srcOrd="2" destOrd="0" presId="urn:microsoft.com/office/officeart/2018/5/layout/IconCircleLabelList"/>
    <dgm:cxn modelId="{27BDE52F-C7BD-4211-BD5D-9CA574218F47}" type="presParOf" srcId="{0BDABE6E-1C50-4236-A5D6-FD81A2B94E06}" destId="{88083345-31D1-45D6-B0A9-7EB89A607322}" srcOrd="3" destOrd="0" presId="urn:microsoft.com/office/officeart/2018/5/layout/IconCircleLabelList"/>
    <dgm:cxn modelId="{E7B6B378-D8D7-46A9-9486-ED1D8F9E3887}" type="presParOf" srcId="{23521377-A4D0-4111-AB05-4298D5C58A82}" destId="{9D3BDA6E-7E0B-45D8-98A5-88595FA12C6C}" srcOrd="3" destOrd="0" presId="urn:microsoft.com/office/officeart/2018/5/layout/IconCircleLabelList"/>
    <dgm:cxn modelId="{BCD518DB-2AAB-4A89-A68C-6EEFC999ECDA}" type="presParOf" srcId="{23521377-A4D0-4111-AB05-4298D5C58A82}" destId="{77F973B1-8CA0-4D18-B2ED-8FD4075B3A8A}" srcOrd="4" destOrd="0" presId="urn:microsoft.com/office/officeart/2018/5/layout/IconCircleLabelList"/>
    <dgm:cxn modelId="{480F3140-34D1-4A86-AC58-D9893518DA27}" type="presParOf" srcId="{77F973B1-8CA0-4D18-B2ED-8FD4075B3A8A}" destId="{2DA37BBD-F65C-4BF5-865D-4397F563C4C9}" srcOrd="0" destOrd="0" presId="urn:microsoft.com/office/officeart/2018/5/layout/IconCircleLabelList"/>
    <dgm:cxn modelId="{02E58C18-FA9B-49D4-A0E7-53EDA82E68EB}" type="presParOf" srcId="{77F973B1-8CA0-4D18-B2ED-8FD4075B3A8A}" destId="{DF9349BC-6A52-4681-9577-055BD616CC5F}" srcOrd="1" destOrd="0" presId="urn:microsoft.com/office/officeart/2018/5/layout/IconCircleLabelList"/>
    <dgm:cxn modelId="{80C3912F-9A8C-449F-A1E7-B2CF06230EAC}" type="presParOf" srcId="{77F973B1-8CA0-4D18-B2ED-8FD4075B3A8A}" destId="{150E9CAC-D3D5-4610-97F8-1204BDEFC50E}" srcOrd="2" destOrd="0" presId="urn:microsoft.com/office/officeart/2018/5/layout/IconCircleLabelList"/>
    <dgm:cxn modelId="{EC30783E-DD1B-41A6-AD14-65B80D29C8F6}" type="presParOf" srcId="{77F973B1-8CA0-4D18-B2ED-8FD4075B3A8A}" destId="{8FBB5DBF-F10F-4A77-9DB0-A2D80E414ECF}" srcOrd="3" destOrd="0" presId="urn:microsoft.com/office/officeart/2018/5/layout/IconCircleLabelList"/>
    <dgm:cxn modelId="{9194BDA2-AA20-4053-A0D6-5965C8876D37}" type="presParOf" srcId="{23521377-A4D0-4111-AB05-4298D5C58A82}" destId="{13ABF9E1-DB5B-48A1-ADD7-1C15CC31C97D}" srcOrd="5" destOrd="0" presId="urn:microsoft.com/office/officeart/2018/5/layout/IconCircleLabelList"/>
    <dgm:cxn modelId="{20808C05-4725-4DF0-9EFF-ABADEEBAB971}" type="presParOf" srcId="{23521377-A4D0-4111-AB05-4298D5C58A82}" destId="{12D8136B-2881-486E-9682-EFE0114B5BEC}" srcOrd="6" destOrd="0" presId="urn:microsoft.com/office/officeart/2018/5/layout/IconCircleLabelList"/>
    <dgm:cxn modelId="{B436254A-5210-45DA-B9B8-80983A278E88}" type="presParOf" srcId="{12D8136B-2881-486E-9682-EFE0114B5BEC}" destId="{4A07DC01-4541-47C5-8D0A-1CAB8534BDD7}" srcOrd="0" destOrd="0" presId="urn:microsoft.com/office/officeart/2018/5/layout/IconCircleLabelList"/>
    <dgm:cxn modelId="{C96D3EBF-1760-41B5-9D71-63FAD423B16C}" type="presParOf" srcId="{12D8136B-2881-486E-9682-EFE0114B5BEC}" destId="{28817059-4B78-4CEF-B8B6-599C1856051D}" srcOrd="1" destOrd="0" presId="urn:microsoft.com/office/officeart/2018/5/layout/IconCircleLabelList"/>
    <dgm:cxn modelId="{ECEEBB11-C2E1-488F-B11D-8668AFF90157}" type="presParOf" srcId="{12D8136B-2881-486E-9682-EFE0114B5BEC}" destId="{832BEEC6-E3A9-48CF-94F1-77CEC0286E90}" srcOrd="2" destOrd="0" presId="urn:microsoft.com/office/officeart/2018/5/layout/IconCircleLabelList"/>
    <dgm:cxn modelId="{8B4D6EB3-D1CD-441C-A8DF-69912F29F92F}" type="presParOf" srcId="{12D8136B-2881-486E-9682-EFE0114B5BEC}" destId="{0DF8A387-FEC2-48D0-9EEB-7CE855BB05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6FB52-C783-418D-8CDB-F95A097B4996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D31-A3C1-46D8-8158-1A39A6345F49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7C17B-29A6-4DF4-98AC-C51880495551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Foundations</a:t>
          </a:r>
          <a:endParaRPr lang="en-US" sz="2000" kern="1200"/>
        </a:p>
      </dsp:txBody>
      <dsp:txXfrm>
        <a:off x="2092" y="2524067"/>
        <a:ext cx="1741992" cy="696796"/>
      </dsp:txXfrm>
    </dsp:sp>
    <dsp:sp modelId="{BBB11099-9AA4-417F-9518-77A6CB83A74D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A1120-B015-4F28-96AB-38DA53C48FD3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83345-31D1-45D6-B0A9-7EB89A607322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Algorithm</a:t>
          </a:r>
          <a:endParaRPr lang="en-US" sz="2000" kern="1200"/>
        </a:p>
      </dsp:txBody>
      <dsp:txXfrm>
        <a:off x="2048933" y="2524067"/>
        <a:ext cx="1741992" cy="696796"/>
      </dsp:txXfrm>
    </dsp:sp>
    <dsp:sp modelId="{2DA37BBD-F65C-4BF5-865D-4397F563C4C9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349BC-6A52-4681-9577-055BD616CC5F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B5DBF-F10F-4A77-9DB0-A2D80E414ECF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 dirty="0"/>
            <a:t>Code</a:t>
          </a:r>
          <a:endParaRPr lang="en-US" sz="2000" kern="1200" dirty="0"/>
        </a:p>
      </dsp:txBody>
      <dsp:txXfrm>
        <a:off x="4095774" y="2524067"/>
        <a:ext cx="1741992" cy="696796"/>
      </dsp:txXfrm>
    </dsp:sp>
    <dsp:sp modelId="{4A07DC01-4541-47C5-8D0A-1CAB8534BDD7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17059-4B78-4CEF-B8B6-599C1856051D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8A387-FEC2-48D0-9EEB-7CE855BB05F7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Results &amp; Outlook</a:t>
          </a:r>
          <a:endParaRPr lang="en-US" sz="2000" kern="1200"/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D02658-B77F-C5A2-EFB7-12FF5480B0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08A00-574D-B33C-FF53-1F0598453D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BDF6F-B3FF-CF43-B5AF-7276CCE14525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DECE4-3890-0576-0ABD-F9569E1BC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3E74-CB14-98A2-2FFD-DC00479B4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16FD5-A6B4-D644-A9D1-EA716B51D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6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3DF16-F3DE-A84A-903C-2C86B1A1E2D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2346D-7C10-7E40-A9A9-FAE8911E6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929DE8-0818-C687-A4AF-FD16D7FDC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08B9B9-5637-48A1-87AB-0D11546C6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3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6FF5D07-8748-2B21-31E0-77023DC450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854922-6ABE-9B34-7A88-4E2CC3607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3E7FD7-ADB1-4EE6-A271-998E4A6D70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3B7A07-991F-0DCA-7D6F-C74CD02680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6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03AF0-7EE3-E5D6-A958-EEAD1E182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F1A0D-AD23-9E58-EB3E-835B394F6D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5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A75E9E-4F44-4BAA-52A8-EFCE3AFB16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4C0283-43A7-D61F-422A-39BA848195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0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CF35C-F2E5-7187-7A54-EFE4B6322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76505-CD73-4308-64A7-D50402A9C2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33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4A15B-E6F2-06BD-1CC2-9F46FCC018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0913-0F03-5F22-392E-92DB037CE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64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24C02-1A73-BF7E-07ED-D53B894FC0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8EE2D-174C-6E13-00B4-1D1B218969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4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DDBE1-DE8D-84C9-57F1-E5A0C290A7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2E180-EE05-0315-23F1-CEFDEA5D9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E684C-25D6-3BDF-A6A6-E00B8D15C7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D3E2D3-CF13-0A73-F7E8-1EB8AA1A15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4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9A9849-31FD-E5E3-1869-3897400083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A6A55D-8353-0099-F24A-42E20FA07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6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3322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Bild 8" descr="20150416 tum logo blau png final.png">
            <a:extLst>
              <a:ext uri="{FF2B5EF4-FFF2-40B4-BE49-F238E27FC236}">
                <a16:creationId xmlns:a16="http://schemas.microsoft.com/office/drawing/2014/main" id="{9EF1908E-7DF6-2B1D-B84F-F3D135AF4F6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hyperlink" Target="https://www.researchgate.net/figure/Principal-sketch-of-Reinforcement-Learning-in-the-Atari-game-playing-domain-for-single_fig1_31346967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hyperlink" Target="https://chistio.ir/%DA%A9%D8%A7%D9%87%D8%B4-%DA%AF%D8%B1%D8%A7%D8%AF%DB%8C%D8%A7%D9%86-gradient-descent-%D8%B4%D8%A8%DA%A9%D9%87-%D9%87%D8%A7%DB%8C-%D8%B9%D8%B5%D8%A8%DB%8C/attachment/descent_3d_mishra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hyperlink" Target="https://alexlenail.me/NN-SV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ale.farama.org/environme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gi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hyperlink" Target="https://alexlenail.me/NN-SV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hyperlink" Target="https://www.researchgate.net/figure/The-architecture-of-DINO-38_fig3_377601936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book.manning.com/concept/reinforcement-learning/target-network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Montezuma%E2%80%99s_Revenge_(Computerspiel)" TargetMode="Externa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www.furidamu.org/blog/2020/12/22/muzero-intuition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dirty="0"/>
              <a:t>Paul Vorderbrügge, Sebastian Rogg, Luca </a:t>
            </a:r>
            <a:r>
              <a:rPr lang="de-DE" dirty="0" err="1"/>
              <a:t>Bozzetti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Technische Universität München</a:t>
            </a:r>
          </a:p>
          <a:p>
            <a:pPr marL="0" indent="0">
              <a:buNone/>
            </a:pPr>
            <a:r>
              <a:rPr lang="de-DE" dirty="0"/>
              <a:t>TUM School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Computation</a:t>
            </a:r>
            <a:r>
              <a:rPr lang="de-DE" dirty="0"/>
              <a:t>, Information and Technology</a:t>
            </a:r>
          </a:p>
          <a:p>
            <a:pPr marL="0" indent="0">
              <a:buNone/>
            </a:pPr>
            <a:r>
              <a:rPr lang="de-DE" dirty="0"/>
              <a:t>Seminar - </a:t>
            </a:r>
            <a:r>
              <a:rPr lang="de-DE" dirty="0" err="1"/>
              <a:t>Decision</a:t>
            </a:r>
            <a:r>
              <a:rPr lang="de-DE" dirty="0"/>
              <a:t> Making </a:t>
            </a:r>
            <a:r>
              <a:rPr lang="de-DE" dirty="0" err="1"/>
              <a:t>Algorithms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09. Juli 2025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21462"/>
          </a:xfrm>
        </p:spPr>
        <p:txBody>
          <a:bodyPr/>
          <a:lstStyle/>
          <a:p>
            <a:r>
              <a:rPr lang="de-DE" sz="3200" b="1" dirty="0" err="1"/>
              <a:t>Playing</a:t>
            </a:r>
            <a:r>
              <a:rPr lang="de-DE" sz="3200" b="1" dirty="0"/>
              <a:t> Atari </a:t>
            </a:r>
            <a:r>
              <a:rPr lang="de-DE" sz="3200" b="1" dirty="0" err="1"/>
              <a:t>with</a:t>
            </a:r>
            <a:r>
              <a:rPr lang="de-DE" sz="3200" b="1" dirty="0"/>
              <a:t> Deep Reinforcement Learning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6128A5-570D-82D1-09B3-0FF1E4CEA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4436076"/>
            <a:ext cx="1845275" cy="242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73F0F8-A9EC-5B10-9066-4DF62992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/>
              <a:t>Outline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4F90F-8644-A6D1-3E0B-47A06B4C49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C603E6-FEE6-189C-3165-FC0F394485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</a:t>
            </a:fld>
            <a:endParaRPr lang="de-DE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96EF0441-6665-E4BA-C855-CEB4D46F6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17363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574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8E74-5273-C450-7E6A-456AA00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0D28-4E43-046F-6423-8DA3DE04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36741"/>
            <a:ext cx="7886700" cy="2140222"/>
          </a:xfrm>
        </p:spPr>
        <p:txBody>
          <a:bodyPr>
            <a:noAutofit/>
          </a:bodyPr>
          <a:lstStyle/>
          <a:p>
            <a:r>
              <a:rPr lang="en-US" sz="2200" b="1" dirty="0"/>
              <a:t>First deep learning model </a:t>
            </a:r>
            <a:r>
              <a:rPr lang="en-US" sz="2200" dirty="0"/>
              <a:t>to learn control policies </a:t>
            </a:r>
            <a:r>
              <a:rPr lang="en-US" sz="2200" b="1" dirty="0"/>
              <a:t>directly</a:t>
            </a:r>
            <a:r>
              <a:rPr lang="en-US" sz="2200" dirty="0"/>
              <a:t> from high-dimensional </a:t>
            </a:r>
            <a:r>
              <a:rPr lang="en-US" sz="2200" b="1" dirty="0"/>
              <a:t>sensory input</a:t>
            </a:r>
            <a:r>
              <a:rPr lang="en-US" sz="2200" dirty="0"/>
              <a:t> (i.e. images) using reinforcement learning.</a:t>
            </a:r>
          </a:p>
          <a:p>
            <a:r>
              <a:rPr lang="en-US" sz="2200" dirty="0"/>
              <a:t>Prior to this work: hand-engineered  features, incorporating large prior knowledge about the problem with simple (e.g. linear) value functions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36405-B066-BAEF-016F-34B962620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8502"/>
            <a:ext cx="7772400" cy="236551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720B-2C25-E4A5-84C2-685AFADF0F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Playing Atari with Deep Reinforcement Learning – DQN, </a:t>
            </a:r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9E01A-BF7B-3613-388A-CC2469FE3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8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6690-3C4F-2EDF-F6B5-819A5484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Motivation - Why Raw Input?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697F-3AA8-100B-DBC3-EC3E6FA4C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19670"/>
            <a:ext cx="7886700" cy="2857292"/>
          </a:xfrm>
        </p:spPr>
        <p:txBody>
          <a:bodyPr>
            <a:normAutofit/>
          </a:bodyPr>
          <a:lstStyle/>
          <a:p>
            <a:pPr marL="457200" lvl="1" indent="0" fontAlgn="base">
              <a:buNone/>
            </a:pPr>
            <a:endParaRPr lang="en-US" sz="2200" dirty="0"/>
          </a:p>
          <a:p>
            <a:pPr lvl="1" fontAlgn="base"/>
            <a:r>
              <a:rPr lang="en-US" sz="2200" dirty="0"/>
              <a:t>Model doesn’t need prior knowledge of the problem</a:t>
            </a:r>
          </a:p>
          <a:p>
            <a:pPr lvl="1" fontAlgn="base"/>
            <a:r>
              <a:rPr lang="en-US" sz="2200" dirty="0"/>
              <a:t>Models' performance isn’t reliant on the quality of a hand-crafted feature</a:t>
            </a:r>
          </a:p>
          <a:p>
            <a:pPr lvl="1" fontAlgn="base"/>
            <a:r>
              <a:rPr lang="en-US" sz="2200" dirty="0"/>
              <a:t>Easily applicable to different problems (the same model used for all games)</a:t>
            </a:r>
          </a:p>
          <a:p>
            <a:pPr lvl="1" fontAlgn="base"/>
            <a:r>
              <a:rPr lang="en-US" sz="2200" dirty="0"/>
              <a:t>Learns just like a human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646E0-A39F-AD9D-1B2B-7F9F275FF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Playing Atari with Deep Reinforcement Learning – DQN, </a:t>
            </a:r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8B5DD-877B-5989-2C02-0A795BFAF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861DE7-9F58-AA1C-37E3-779824EF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79" y="1636437"/>
            <a:ext cx="1520299" cy="1737485"/>
          </a:xfrm>
          <a:prstGeom prst="rect">
            <a:avLst/>
          </a:prstGeom>
          <a:noFill/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DB95AD-B6A8-086F-BCE6-2204A08C9E03}"/>
              </a:ext>
            </a:extLst>
          </p:cNvPr>
          <p:cNvCxnSpPr>
            <a:cxnSpLocks/>
          </p:cNvCxnSpPr>
          <p:nvPr/>
        </p:nvCxnSpPr>
        <p:spPr>
          <a:xfrm>
            <a:off x="3617844" y="2491203"/>
            <a:ext cx="602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8DCEB7A-47A8-8A26-556A-2B5F0E8D285A}"/>
              </a:ext>
            </a:extLst>
          </p:cNvPr>
          <p:cNvSpPr txBox="1"/>
          <p:nvPr/>
        </p:nvSpPr>
        <p:spPr>
          <a:xfrm>
            <a:off x="4386469" y="2299047"/>
            <a:ext cx="83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Model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0DF0D9-BA96-4565-A99D-2689AC047924}"/>
              </a:ext>
            </a:extLst>
          </p:cNvPr>
          <p:cNvCxnSpPr>
            <a:cxnSpLocks/>
          </p:cNvCxnSpPr>
          <p:nvPr/>
        </p:nvCxnSpPr>
        <p:spPr>
          <a:xfrm flipV="1">
            <a:off x="5300870" y="2114381"/>
            <a:ext cx="58309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8A0E30-4530-270D-912A-BB48803CF2D4}"/>
              </a:ext>
            </a:extLst>
          </p:cNvPr>
          <p:cNvSpPr txBox="1"/>
          <p:nvPr/>
        </p:nvSpPr>
        <p:spPr>
          <a:xfrm>
            <a:off x="6016487" y="1929715"/>
            <a:ext cx="1225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GO UP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13D23B-5A76-B7E6-C2D1-52AD2428BAF5}"/>
              </a:ext>
            </a:extLst>
          </p:cNvPr>
          <p:cNvCxnSpPr/>
          <p:nvPr/>
        </p:nvCxnSpPr>
        <p:spPr>
          <a:xfrm>
            <a:off x="5300870" y="2497689"/>
            <a:ext cx="583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081AEE0-C915-20E4-DB9F-9E9DCBBAC661}"/>
              </a:ext>
            </a:extLst>
          </p:cNvPr>
          <p:cNvSpPr txBox="1"/>
          <p:nvPr/>
        </p:nvSpPr>
        <p:spPr>
          <a:xfrm>
            <a:off x="6016487" y="2313023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DO NOTHING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FCF7D6-D053-433D-2CE4-AFB09A82CA06}"/>
              </a:ext>
            </a:extLst>
          </p:cNvPr>
          <p:cNvCxnSpPr>
            <a:cxnSpLocks/>
          </p:cNvCxnSpPr>
          <p:nvPr/>
        </p:nvCxnSpPr>
        <p:spPr>
          <a:xfrm>
            <a:off x="5300869" y="2497689"/>
            <a:ext cx="583096" cy="350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BB0043-1F2D-E91E-780E-A29970FB468C}"/>
              </a:ext>
            </a:extLst>
          </p:cNvPr>
          <p:cNvSpPr txBox="1"/>
          <p:nvPr/>
        </p:nvSpPr>
        <p:spPr>
          <a:xfrm>
            <a:off x="6016487" y="2711312"/>
            <a:ext cx="152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GO DOWN</a:t>
            </a:r>
          </a:p>
        </p:txBody>
      </p:sp>
    </p:spTree>
    <p:extLst>
      <p:ext uri="{BB962C8B-B14F-4D97-AF65-F5344CB8AC3E}">
        <p14:creationId xmlns:p14="http://schemas.microsoft.com/office/powerpoint/2010/main" val="112203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C67E-DB6F-0688-F89B-F66A0201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The RL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415AD-EECE-3576-07E8-A05D3BD550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432766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1800" dirty="0"/>
                  <a:t>At </a:t>
                </a:r>
                <a:r>
                  <a:rPr lang="de-DE" sz="1800" dirty="0" err="1"/>
                  <a:t>each</a:t>
                </a:r>
                <a:r>
                  <a:rPr lang="de-DE" sz="1800" dirty="0"/>
                  <a:t> time </a:t>
                </a:r>
                <a:r>
                  <a:rPr lang="de-DE" sz="1800" dirty="0" err="1"/>
                  <a:t>step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sz="1800" dirty="0"/>
                  <a:t>:</a:t>
                </a:r>
              </a:p>
              <a:p>
                <a:r>
                  <a:rPr lang="de-DE" sz="1800" dirty="0"/>
                  <a:t>Agent </a:t>
                </a:r>
                <a:r>
                  <a:rPr lang="de-DE" sz="1800" dirty="0" err="1"/>
                  <a:t>chooses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 err="1"/>
                  <a:t>from</a:t>
                </a:r>
                <a:r>
                  <a:rPr lang="de-DE" sz="1800" dirty="0"/>
                  <a:t> a </a:t>
                </a:r>
                <a:r>
                  <a:rPr lang="de-DE" sz="1800" dirty="0" err="1"/>
                  <a:t>set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of</a:t>
                </a:r>
                <a:r>
                  <a:rPr lang="de-DE" sz="1800" dirty="0"/>
                  <a:t> legal </a:t>
                </a:r>
                <a:r>
                  <a:rPr lang="de-DE" sz="1800" dirty="0" err="1"/>
                  <a:t>actions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 = {1,…, 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e-DE" sz="1800" dirty="0"/>
              </a:p>
              <a:p>
                <a:r>
                  <a:rPr lang="de-DE" sz="1800" dirty="0"/>
                  <a:t>Atari Emulator </a:t>
                </a:r>
                <a:r>
                  <a:rPr lang="de-DE" sz="1800" dirty="0" err="1"/>
                  <a:t>runs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the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</a:t>
                </a:r>
                <a:r>
                  <a:rPr lang="de-DE" sz="1800" dirty="0"/>
                  <a:t> and </a:t>
                </a:r>
                <a:r>
                  <a:rPr lang="de-DE" sz="1800" dirty="0" err="1"/>
                  <a:t>returns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next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state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/>
                  <a:t>and </a:t>
                </a:r>
                <a:r>
                  <a:rPr lang="de-DE" sz="1800" dirty="0" err="1"/>
                  <a:t>reward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e-DE" sz="1800" dirty="0"/>
              </a:p>
              <a:p>
                <a:r>
                  <a:rPr lang="de-DE" sz="1800" dirty="0"/>
                  <a:t>Goal: </a:t>
                </a:r>
                <a:r>
                  <a:rPr lang="de-DE" sz="1800" dirty="0" err="1"/>
                  <a:t>select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actions</a:t>
                </a:r>
                <a:r>
                  <a:rPr lang="de-DE" sz="1800" dirty="0"/>
                  <a:t> to </a:t>
                </a:r>
                <a:r>
                  <a:rPr lang="de-DE" sz="1800" dirty="0" err="1"/>
                  <a:t>maximise</a:t>
                </a:r>
                <a:r>
                  <a:rPr lang="de-DE" sz="1800" dirty="0"/>
                  <a:t> (</a:t>
                </a:r>
                <a:r>
                  <a:rPr lang="de-DE" sz="1800" dirty="0" err="1"/>
                  <a:t>discounted</a:t>
                </a:r>
                <a:r>
                  <a:rPr lang="de-DE" sz="1800" dirty="0"/>
                  <a:t>) </a:t>
                </a:r>
                <a:r>
                  <a:rPr lang="de-DE" sz="1800" dirty="0" err="1"/>
                  <a:t>future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reward</a:t>
                </a:r>
                <a:r>
                  <a:rPr lang="de-DE" sz="1800" dirty="0"/>
                  <a:t> </a:t>
                </a:r>
                <a:r>
                  <a:rPr lang="de-DE" sz="1800" dirty="0" err="1"/>
                  <a:t>defined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as</a:t>
                </a:r>
                <a:endParaRPr lang="de-DE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415AD-EECE-3576-07E8-A05D3BD55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4327663" cy="4351338"/>
              </a:xfrm>
              <a:blipFill>
                <a:blip r:embed="rId2"/>
                <a:stretch>
                  <a:fillRect l="-1127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541A6-6F8D-C5FD-2D98-CB188EE16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A78D9-5B40-3538-8A67-0E29E5224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 descr="A mathematical equation with a triangle and square and square and square&#10;&#10;AI-generated content may be incorrect.">
            <a:extLst>
              <a:ext uri="{FF2B5EF4-FFF2-40B4-BE49-F238E27FC236}">
                <a16:creationId xmlns:a16="http://schemas.microsoft.com/office/drawing/2014/main" id="{4A7697EE-3708-1F91-0C51-52DB698B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114" y="4234070"/>
            <a:ext cx="2026769" cy="845335"/>
          </a:xfrm>
          <a:prstGeom prst="rect">
            <a:avLst/>
          </a:prstGeom>
        </p:spPr>
      </p:pic>
      <p:pic>
        <p:nvPicPr>
          <p:cNvPr id="1026" name="Picture 2">
            <a:hlinkClick r:id="rId4"/>
            <a:extLst>
              <a:ext uri="{FF2B5EF4-FFF2-40B4-BE49-F238E27FC236}">
                <a16:creationId xmlns:a16="http://schemas.microsoft.com/office/drawing/2014/main" id="{2093CA88-5847-0451-02B7-DD099595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276" y="1690689"/>
            <a:ext cx="4264724" cy="273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7BBA4-0FFC-EDA1-9235-6CC1AD42F116}"/>
              </a:ext>
            </a:extLst>
          </p:cNvPr>
          <p:cNvSpPr txBox="1"/>
          <p:nvPr/>
        </p:nvSpPr>
        <p:spPr>
          <a:xfrm>
            <a:off x="6726955" y="1456293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337567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2D69-9453-54D5-FBC2-9A0BD443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95EC-3BD7-A133-DBBE-E7FC1B9F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First idea: just use a frame as  a state</a:t>
            </a:r>
          </a:p>
          <a:p>
            <a:endParaRPr lang="en-US" dirty="0"/>
          </a:p>
          <a:p>
            <a:r>
              <a:rPr lang="en-US" dirty="0"/>
              <a:t>Problem: Where is the ball going?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3395E-E683-06EC-ADCC-07E057AC5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931" y="1825625"/>
            <a:ext cx="3807419" cy="4351338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B7CB-04FA-789D-A379-C86BAE99D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9AEF-1366-E9D4-B509-80CF24D5F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1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CBF4-9F88-4705-F103-0CEB8FCD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86DD-3174-68A3-5FE3-32D0959212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 4 frames as one state</a:t>
            </a:r>
          </a:p>
          <a:p>
            <a:endParaRPr lang="en-US" dirty="0"/>
          </a:p>
          <a:p>
            <a:r>
              <a:rPr lang="en-US" dirty="0"/>
              <a:t>This accounts for velocity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C26DB0-C0D8-3F37-FEF0-2936AD04A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EE44F2-5B9F-AA84-2DAE-AE695CA816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361313-FFB2-7933-1068-39C94571F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783" y="1825625"/>
            <a:ext cx="3850934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175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BACC-14F7-1B97-8D18-C09861CD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Exploration vs. Exploitation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82730-3246-DBB3-DA73-0FEF2FBC4E2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34448" y="2123660"/>
                <a:ext cx="4242351" cy="36542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de-DE" sz="2400" b="1" dirty="0"/>
                  <a:t>-</a:t>
                </a:r>
                <a:r>
                  <a:rPr lang="de-DE" sz="2400" b="1" dirty="0" err="1"/>
                  <a:t>greedy</a:t>
                </a:r>
                <a:r>
                  <a:rPr lang="de-DE" sz="2400" b="1" dirty="0"/>
                  <a:t> </a:t>
                </a:r>
                <a:r>
                  <a:rPr lang="de-DE" sz="2400" b="1" dirty="0" err="1"/>
                  <a:t>strategy</a:t>
                </a:r>
                <a:endParaRPr lang="de-DE" sz="2400" b="1" dirty="0"/>
              </a:p>
              <a:p>
                <a:r>
                  <a:rPr lang="de-DE" sz="2400" dirty="0">
                    <a:ea typeface="Cambria Math" panose="02040503050406030204" pitchFamily="18" charset="0"/>
                  </a:rPr>
                  <a:t>Execute a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random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action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with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probability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de-DE" sz="2400" dirty="0">
                  <a:ea typeface="Cambria Math" panose="02040503050406030204" pitchFamily="18" charset="0"/>
                </a:endParaRPr>
              </a:p>
              <a:p>
                <a:r>
                  <a:rPr lang="de-DE" sz="2400" dirty="0"/>
                  <a:t>Execute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greedy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best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action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de-DE" sz="2400" dirty="0"/>
              </a:p>
              <a:p>
                <a:r>
                  <a:rPr lang="de-DE" sz="2400" dirty="0"/>
                  <a:t>In </a:t>
                </a:r>
                <a:r>
                  <a:rPr lang="de-DE" sz="2400" dirty="0" err="1"/>
                  <a:t>practice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reduced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82730-3246-DBB3-DA73-0FEF2FBC4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34448" y="2123660"/>
                <a:ext cx="4242351" cy="3654288"/>
              </a:xfrm>
              <a:blipFill>
                <a:blip r:embed="rId2"/>
                <a:stretch>
                  <a:fillRect l="-1868" t="-2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 descr="A line graph with numbers and a blue line&#10;&#10;AI-generated content may be incorrect.">
            <a:extLst>
              <a:ext uri="{FF2B5EF4-FFF2-40B4-BE49-F238E27FC236}">
                <a16:creationId xmlns:a16="http://schemas.microsoft.com/office/drawing/2014/main" id="{2289C8D8-5724-21BF-A7F1-93986CF6C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8479"/>
          <a:stretch>
            <a:fillRect/>
          </a:stretch>
        </p:blipFill>
        <p:spPr>
          <a:xfrm>
            <a:off x="4623351" y="2226754"/>
            <a:ext cx="3886200" cy="226573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F7E2F-77E5-AF70-95B1-58E3777D7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CF33-65A1-AD33-44A0-B867C6BF67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28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D7D5-F506-4EBB-AC25-8A95D06E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CF4C-0375-20C9-5DAC-65C8A5797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699" cy="4351338"/>
          </a:xfrm>
        </p:spPr>
        <p:txBody>
          <a:bodyPr>
            <a:normAutofit/>
          </a:bodyPr>
          <a:lstStyle/>
          <a:p>
            <a:r>
              <a:rPr lang="de-DE" sz="1600" dirty="0"/>
              <a:t>Old </a:t>
            </a:r>
            <a:r>
              <a:rPr lang="de-DE" sz="1600" dirty="0" err="1"/>
              <a:t>concept</a:t>
            </a:r>
            <a:r>
              <a:rPr lang="de-DE" sz="1600" dirty="0"/>
              <a:t> (1989) but not </a:t>
            </a:r>
            <a:r>
              <a:rPr lang="de-DE" sz="1600" dirty="0" err="1"/>
              <a:t>successfully</a:t>
            </a:r>
            <a:r>
              <a:rPr lang="de-DE" sz="1600" dirty="0"/>
              <a:t> </a:t>
            </a:r>
            <a:r>
              <a:rPr lang="de-DE" sz="1600" dirty="0" err="1"/>
              <a:t>combined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DL </a:t>
            </a:r>
            <a:r>
              <a:rPr lang="de-DE" sz="1600" dirty="0" err="1"/>
              <a:t>before</a:t>
            </a:r>
            <a:endParaRPr lang="de-DE" sz="1600" dirty="0"/>
          </a:p>
          <a:p>
            <a:r>
              <a:rPr lang="de-DE" sz="1600" dirty="0"/>
              <a:t>Q-</a:t>
            </a:r>
            <a:r>
              <a:rPr lang="de-DE" sz="1600" dirty="0" err="1"/>
              <a:t>function</a:t>
            </a:r>
            <a:r>
              <a:rPr lang="de-DE" sz="1600" dirty="0"/>
              <a:t> </a:t>
            </a:r>
            <a:r>
              <a:rPr lang="de-DE" sz="1600" dirty="0" err="1"/>
              <a:t>maps</a:t>
            </a:r>
            <a:r>
              <a:rPr lang="de-DE" sz="1600" dirty="0"/>
              <a:t> {</a:t>
            </a:r>
            <a:r>
              <a:rPr lang="de-DE" sz="1600" dirty="0" err="1"/>
              <a:t>state</a:t>
            </a:r>
            <a:r>
              <a:rPr lang="de-DE" sz="1600" dirty="0"/>
              <a:t>, </a:t>
            </a:r>
            <a:r>
              <a:rPr lang="de-DE" sz="1600" dirty="0" err="1"/>
              <a:t>action</a:t>
            </a:r>
            <a:r>
              <a:rPr lang="de-DE" sz="1600" dirty="0"/>
              <a:t>} </a:t>
            </a:r>
            <a:r>
              <a:rPr lang="de-DE" sz="1600" dirty="0" err="1"/>
              <a:t>pairs</a:t>
            </a:r>
            <a:r>
              <a:rPr lang="de-DE" sz="1600" dirty="0"/>
              <a:t> to </a:t>
            </a:r>
            <a:r>
              <a:rPr lang="de-DE" sz="1600" dirty="0" err="1"/>
              <a:t>future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: </a:t>
            </a:r>
          </a:p>
          <a:p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r>
              <a:rPr lang="de-DE" sz="1600" dirty="0"/>
              <a:t>Optimal q-</a:t>
            </a:r>
            <a:r>
              <a:rPr lang="de-DE" sz="1600" dirty="0" err="1"/>
              <a:t>function</a:t>
            </a:r>
            <a:r>
              <a:rPr lang="de-DE" sz="1600" dirty="0"/>
              <a:t> </a:t>
            </a:r>
            <a:r>
              <a:rPr lang="de-DE" sz="1600" dirty="0" err="1"/>
              <a:t>maps</a:t>
            </a:r>
            <a:r>
              <a:rPr lang="de-DE" sz="1600" dirty="0"/>
              <a:t> {</a:t>
            </a:r>
            <a:r>
              <a:rPr lang="de-DE" sz="1600" dirty="0" err="1"/>
              <a:t>state</a:t>
            </a:r>
            <a:r>
              <a:rPr lang="de-DE" sz="1600" dirty="0"/>
              <a:t>, </a:t>
            </a:r>
            <a:r>
              <a:rPr lang="de-DE" sz="1600" dirty="0" err="1"/>
              <a:t>action</a:t>
            </a:r>
            <a:r>
              <a:rPr lang="de-DE" sz="1600" dirty="0"/>
              <a:t>} </a:t>
            </a:r>
            <a:r>
              <a:rPr lang="de-DE" sz="1600" dirty="0" err="1"/>
              <a:t>pairs</a:t>
            </a:r>
            <a:r>
              <a:rPr lang="de-DE" sz="1600" dirty="0"/>
              <a:t> to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max</a:t>
            </a:r>
            <a:r>
              <a:rPr lang="de-DE" sz="1600" dirty="0"/>
              <a:t> </a:t>
            </a:r>
            <a:r>
              <a:rPr lang="de-DE" sz="1600" dirty="0" err="1"/>
              <a:t>expected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 </a:t>
            </a:r>
            <a:r>
              <a:rPr lang="de-DE" sz="1600" dirty="0" err="1"/>
              <a:t>achievable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any</a:t>
            </a:r>
            <a:r>
              <a:rPr lang="de-DE" sz="1600" dirty="0"/>
              <a:t> </a:t>
            </a:r>
            <a:r>
              <a:rPr lang="de-DE" sz="1600" dirty="0" err="1"/>
              <a:t>policy</a:t>
            </a:r>
            <a:r>
              <a:rPr lang="de-DE" sz="1600" dirty="0"/>
              <a:t>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F16FF-A987-F57A-4373-124CC3BE28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F32C9-5181-087E-18C5-4F8244212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7D520-273E-98B5-145E-56E3E867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06" y="4500764"/>
            <a:ext cx="4163006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191FEE-FD9E-B4C3-CE74-E1072D64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47" y="2777610"/>
            <a:ext cx="1714739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5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D699-0A47-CB1F-B70C-C9E3F294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C1887-2EA2-A46B-4103-DF0A8638836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11408"/>
                <a:ext cx="5599873" cy="4351338"/>
              </a:xfrm>
            </p:spPr>
            <p:txBody>
              <a:bodyPr/>
              <a:lstStyle/>
              <a:p>
                <a:r>
                  <a:rPr lang="de-DE" dirty="0" err="1"/>
                  <a:t>Can‘t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Q-</a:t>
                </a:r>
                <a:r>
                  <a:rPr lang="de-DE" dirty="0" err="1"/>
                  <a:t>table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Q-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endParaRPr lang="de-DE" dirty="0"/>
              </a:p>
              <a:p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a </a:t>
                </a:r>
                <a:r>
                  <a:rPr lang="de-DE" dirty="0" err="1"/>
                  <a:t>neural</a:t>
                </a:r>
                <a:r>
                  <a:rPr lang="de-DE" dirty="0"/>
                  <a:t> network to </a:t>
                </a:r>
                <a:r>
                  <a:rPr lang="de-DE" dirty="0" err="1"/>
                  <a:t>approximate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 Q-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r>
                  <a:rPr lang="de-DE" dirty="0"/>
                  <a:t>Q-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gets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weights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neural</a:t>
                </a:r>
                <a:r>
                  <a:rPr lang="de-DE" dirty="0"/>
                  <a:t> network)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C1887-2EA2-A46B-4103-DF0A86388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11408"/>
                <a:ext cx="5599873" cy="4351338"/>
              </a:xfrm>
              <a:blipFill>
                <a:blip r:embed="rId2"/>
                <a:stretch>
                  <a:fillRect l="-1959" t="-2381" r="-10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422FF-42F9-1442-D26F-A6789E20E2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5D0A-51F6-413E-318E-2F3B6772B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2" descr="q learning Q table">
            <a:extLst>
              <a:ext uri="{FF2B5EF4-FFF2-40B4-BE49-F238E27FC236}">
                <a16:creationId xmlns:a16="http://schemas.microsoft.com/office/drawing/2014/main" id="{C660D8F4-071F-F0EE-159A-4F804B78A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8" t="19743"/>
          <a:stretch>
            <a:fillRect/>
          </a:stretch>
        </p:blipFill>
        <p:spPr bwMode="auto">
          <a:xfrm>
            <a:off x="6346825" y="1931869"/>
            <a:ext cx="2420619" cy="161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5B1351-5455-7BD0-5AAD-C7931806F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16" y="4694768"/>
            <a:ext cx="2852584" cy="44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2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A59E04-9EE3-2119-0294-B2B8FB9FBE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4000" b="1" dirty="0"/>
                  <a:t>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4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4000" b="1" i="1" dirty="0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de-DE" sz="40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4000" b="1" dirty="0"/>
                  <a:t> </a:t>
                </a:r>
                <a:r>
                  <a:rPr lang="de-DE" sz="4000" b="1" dirty="0" err="1"/>
                  <a:t>with</a:t>
                </a:r>
                <a:r>
                  <a:rPr lang="de-DE" sz="4000" b="1" dirty="0"/>
                  <a:t> a NN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A59E04-9EE3-2119-0294-B2B8FB9FB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104E-8609-218C-AF27-9FBBFD868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81774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Training:</a:t>
            </a:r>
          </a:p>
          <a:p>
            <a:pPr marL="0" indent="0">
              <a:buNone/>
            </a:pPr>
            <a:r>
              <a:rPr lang="de-DE" sz="1600" dirty="0"/>
              <a:t>Q-Network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trained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minimising</a:t>
            </a:r>
            <a:r>
              <a:rPr lang="de-DE" sz="1600" dirty="0"/>
              <a:t> a </a:t>
            </a:r>
            <a:r>
              <a:rPr lang="de-DE" sz="1600" dirty="0" err="1"/>
              <a:t>loss</a:t>
            </a:r>
            <a:r>
              <a:rPr lang="de-DE" sz="1600" dirty="0"/>
              <a:t> </a:t>
            </a:r>
            <a:r>
              <a:rPr lang="de-DE" sz="1600" dirty="0" err="1"/>
              <a:t>function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target</a:t>
            </a:r>
            <a:r>
              <a:rPr lang="de-DE" sz="1600" dirty="0"/>
              <a:t> </a:t>
            </a:r>
            <a:r>
              <a:rPr lang="de-DE" sz="1600" dirty="0" err="1"/>
              <a:t>defined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through</a:t>
            </a:r>
            <a:r>
              <a:rPr lang="de-DE" sz="1600" dirty="0"/>
              <a:t> </a:t>
            </a:r>
            <a:r>
              <a:rPr lang="de-DE" sz="1600" dirty="0" err="1"/>
              <a:t>gradient</a:t>
            </a:r>
            <a:r>
              <a:rPr lang="de-DE" sz="1600" dirty="0"/>
              <a:t> </a:t>
            </a:r>
            <a:r>
              <a:rPr lang="de-DE" sz="1600" dirty="0" err="1"/>
              <a:t>descent</a:t>
            </a:r>
            <a:endParaRPr lang="de-DE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46822-3B69-B87B-9381-B0A8335A55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0C0E-52C2-46D1-BC49-283C985E2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7C4D1-B144-9D3A-30D6-6B101BF6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84" y="4048828"/>
            <a:ext cx="3848637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E532E-A56F-B9E9-98CA-3F96C9691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84" y="2748947"/>
            <a:ext cx="3515216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8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6AECE0-1C78-3FA9-08BE-06C07E61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/>
              <a:t>Gradient Descent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0B7FB-B6F1-15AC-B8B8-80B1C1217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1F60-23AC-7809-F175-8D444469B0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6" name="Content Placeholder 15" descr="A colorful graph on a white background">
            <a:hlinkClick r:id="rId2"/>
            <a:extLst>
              <a:ext uri="{FF2B5EF4-FFF2-40B4-BE49-F238E27FC236}">
                <a16:creationId xmlns:a16="http://schemas.microsoft.com/office/drawing/2014/main" id="{F18607D2-6B56-A945-447B-1066C2D41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08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36267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3C2F-DD08-7007-9130-76DC0E68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732146-9048-0809-F6CC-BC8A4C9F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457200"/>
            <a:ext cx="4277439" cy="1600200"/>
          </a:xfrm>
        </p:spPr>
        <p:txBody>
          <a:bodyPr anchor="b">
            <a:normAutofit/>
          </a:bodyPr>
          <a:lstStyle/>
          <a:p>
            <a:r>
              <a:rPr lang="en" b="1" dirty="0"/>
              <a:t>Deep Q-Learning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52C47-DD9C-29F2-006A-F6543C46E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381" y="987426"/>
            <a:ext cx="3387169" cy="4873625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36FF8F-D6F3-5B43-8500-C5611C2B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4013280" cy="3811588"/>
          </a:xfrm>
        </p:spPr>
        <p:txBody>
          <a:bodyPr>
            <a:normAutofit/>
          </a:bodyPr>
          <a:lstStyle/>
          <a:p>
            <a:r>
              <a:rPr lang="en-US" dirty="0"/>
              <a:t>Naive 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b="1" dirty="0"/>
              <a:t>state and action </a:t>
            </a:r>
            <a:r>
              <a:rPr lang="en-US" dirty="0"/>
              <a:t>into neural network get its Q-value – repeat for all 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Execute action with best Q-value and get reward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network based on gathered information &lt;s, a, r, s’&gt;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5738AF-87ED-138A-A7CB-EA06CC9F10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98238-F8C2-8966-64FA-345A0081E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4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B012-D6D1-4069-2FA5-BCBFDC38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DF368D-90CB-0E87-1B05-47B65170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457200"/>
            <a:ext cx="4094559" cy="1600200"/>
          </a:xfrm>
        </p:spPr>
        <p:txBody>
          <a:bodyPr anchor="b">
            <a:normAutofit/>
          </a:bodyPr>
          <a:lstStyle/>
          <a:p>
            <a:r>
              <a:rPr lang="en" b="1" dirty="0"/>
              <a:t>Deep Q-Learning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BE66C-0EF5-90FB-1352-AB22FA719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391" y="1236966"/>
            <a:ext cx="4629150" cy="4374545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921D1D-EDD7-FA64-D1E0-627CDDE7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3738959" cy="3811588"/>
          </a:xfrm>
        </p:spPr>
        <p:txBody>
          <a:bodyPr>
            <a:normAutofit/>
          </a:bodyPr>
          <a:lstStyle/>
          <a:p>
            <a:r>
              <a:rPr lang="en-US" dirty="0"/>
              <a:t>Better 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b="1" dirty="0"/>
              <a:t>state</a:t>
            </a:r>
            <a:r>
              <a:rPr lang="en-US" dirty="0"/>
              <a:t> into neural network get vector of Q-values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Execute action with best Q-value and get reward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network based on gathered information &lt;s, a, r, s’&gt;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BC7C19-6C4D-829B-E0CB-90B326120F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16892-0A99-AC12-9A15-892E188151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8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2127730-8447-A2D2-B21D-65BAABBD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9AAF8DB-BC43-52FA-A3C0-6382303C6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2000" dirty="0">
                    <a:latin typeface="Aptos Body"/>
                  </a:rPr>
                  <a:t>Working </a:t>
                </a:r>
                <a:r>
                  <a:rPr lang="de-DE" sz="2000" dirty="0" err="1">
                    <a:latin typeface="Aptos Body"/>
                  </a:rPr>
                  <a:t>with</a:t>
                </a:r>
                <a:r>
                  <a:rPr lang="de-DE" sz="2000" dirty="0">
                    <a:latin typeface="Aptos Body"/>
                  </a:rPr>
                  <a:t> 210x160 </a:t>
                </a:r>
                <a:r>
                  <a:rPr lang="de-DE" sz="2000" dirty="0" err="1">
                    <a:latin typeface="Aptos Body"/>
                  </a:rPr>
                  <a:t>px</a:t>
                </a:r>
                <a:r>
                  <a:rPr lang="de-DE" sz="2000" dirty="0">
                    <a:latin typeface="Aptos Body"/>
                  </a:rPr>
                  <a:t> and 128 RGB </a:t>
                </a:r>
                <a:r>
                  <a:rPr lang="de-DE" sz="2000" dirty="0" err="1">
                    <a:latin typeface="Aptos Body"/>
                  </a:rPr>
                  <a:t>palette</a:t>
                </a:r>
                <a:r>
                  <a:rPr lang="de-DE" sz="2000" dirty="0">
                    <a:latin typeface="Aptos Body"/>
                  </a:rPr>
                  <a:t> </a:t>
                </a:r>
                <a:r>
                  <a:rPr lang="de-DE" sz="2000" dirty="0" err="1">
                    <a:latin typeface="Aptos Body"/>
                  </a:rPr>
                  <a:t>is</a:t>
                </a:r>
                <a:r>
                  <a:rPr lang="de-DE" sz="2000" dirty="0">
                    <a:latin typeface="Aptos Body"/>
                  </a:rPr>
                  <a:t> </a:t>
                </a:r>
                <a:r>
                  <a:rPr lang="de-DE" sz="2000" dirty="0" err="1">
                    <a:latin typeface="Aptos Body"/>
                  </a:rPr>
                  <a:t>demanding</a:t>
                </a:r>
                <a:endParaRPr lang="de-DE" sz="2000" dirty="0">
                  <a:latin typeface="Aptos Body"/>
                </a:endParaRPr>
              </a:p>
              <a:p>
                <a:endParaRPr lang="de-DE" sz="2000" dirty="0">
                  <a:latin typeface="Aptos Body"/>
                </a:endParaRPr>
              </a:p>
              <a:p>
                <a:r>
                  <a:rPr lang="de-DE" sz="2000" dirty="0" err="1">
                    <a:latin typeface="Aptos Body"/>
                  </a:rPr>
                  <a:t>Grayscale</a:t>
                </a:r>
                <a:endParaRPr lang="de-DE" sz="2000" dirty="0">
                  <a:latin typeface="Aptos Body"/>
                </a:endParaRPr>
              </a:p>
              <a:p>
                <a:r>
                  <a:rPr lang="de-DE" sz="2000" dirty="0">
                    <a:latin typeface="Aptos Body"/>
                  </a:rPr>
                  <a:t>Down-sampling 110x84 </a:t>
                </a:r>
                <a:r>
                  <a:rPr lang="de-DE" sz="2000" dirty="0" err="1">
                    <a:latin typeface="Aptos Body"/>
                  </a:rPr>
                  <a:t>px</a:t>
                </a:r>
                <a:endParaRPr lang="de-DE" sz="2000" dirty="0">
                  <a:latin typeface="Aptos Body"/>
                </a:endParaRPr>
              </a:p>
              <a:p>
                <a:r>
                  <a:rPr lang="de-DE" sz="2000" dirty="0" err="1">
                    <a:latin typeface="Aptos Body"/>
                  </a:rPr>
                  <a:t>Crop</a:t>
                </a:r>
                <a:r>
                  <a:rPr lang="de-DE" sz="2000" dirty="0">
                    <a:latin typeface="Aptos Body"/>
                  </a:rPr>
                  <a:t> 84x84 </a:t>
                </a:r>
                <a:r>
                  <a:rPr lang="de-DE" sz="2000" dirty="0" err="1">
                    <a:latin typeface="Aptos Body"/>
                  </a:rPr>
                  <a:t>px</a:t>
                </a:r>
                <a:endParaRPr lang="de-DE" sz="2000" i="1" dirty="0">
                  <a:latin typeface="Aptos Body"/>
                </a:endParaRPr>
              </a:p>
              <a:p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20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9AAF8DB-BC43-52FA-A3C0-6382303C6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81A49-1027-CAA8-B806-256F45FB6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A1CCA-9C29-0FAD-A8A7-10C8451B4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F8238-75D5-F0CF-2CED-269B8540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40634"/>
            <a:ext cx="1120656" cy="1281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6C239C-E471-B97C-EDA1-6E61A05C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793034"/>
            <a:ext cx="1120656" cy="1281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82F5DD-3FBC-594E-AB99-28025257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945434"/>
            <a:ext cx="1120656" cy="1281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0043CD-AA25-EA20-538E-7B82CDFC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97834"/>
            <a:ext cx="1120656" cy="1281847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AED66097-5593-604D-4EF7-592B4EECB08D}"/>
              </a:ext>
            </a:extLst>
          </p:cNvPr>
          <p:cNvSpPr/>
          <p:nvPr/>
        </p:nvSpPr>
        <p:spPr>
          <a:xfrm>
            <a:off x="5845056" y="33440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348F0AD7-9A65-0376-11F2-DE34E2AF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864" y="2714992"/>
            <a:ext cx="990600" cy="977900"/>
          </a:xfrm>
          <a:prstGeom prst="rect">
            <a:avLst/>
          </a:prstGeom>
        </p:spPr>
      </p:pic>
      <p:pic>
        <p:nvPicPr>
          <p:cNvPr id="17" name="Picture 16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1671474-28E2-F4B5-741A-8272D7D57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264" y="2867392"/>
            <a:ext cx="990600" cy="977900"/>
          </a:xfrm>
          <a:prstGeom prst="rect">
            <a:avLst/>
          </a:prstGeom>
        </p:spPr>
      </p:pic>
      <p:pic>
        <p:nvPicPr>
          <p:cNvPr id="18" name="Picture 17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C4D8D6DA-1153-DECB-E3F4-0D13F3FA0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664" y="3019792"/>
            <a:ext cx="990600" cy="977900"/>
          </a:xfrm>
          <a:prstGeom prst="rect">
            <a:avLst/>
          </a:prstGeom>
        </p:spPr>
      </p:pic>
      <p:pic>
        <p:nvPicPr>
          <p:cNvPr id="19" name="Picture 18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C511865-4CEF-475D-B266-9211E14A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064" y="3172192"/>
            <a:ext cx="9906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8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D249-50FF-6F9A-E6EA-C6C51ECE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7950-D397-1D11-9E2A-7ABE5F6A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Training - feed in states and learn?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13430-7B32-0EE4-A491-DCFACD7D18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27D72-29C3-4F5D-6A21-35A7D2139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39117B-93E4-E2B2-B6EC-BD300ECE4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52771" cy="2875467"/>
          </a:xfrm>
        </p:spPr>
        <p:txBody>
          <a:bodyPr>
            <a:normAutofit/>
          </a:bodyPr>
          <a:lstStyle/>
          <a:p>
            <a:r>
              <a:rPr lang="en-US" sz="2000" dirty="0"/>
              <a:t>DL assumes data samples are </a:t>
            </a:r>
            <a:r>
              <a:rPr lang="en-US" sz="2000" b="1" dirty="0" err="1"/>
              <a:t>i.i.d.</a:t>
            </a:r>
            <a:endParaRPr lang="en-US" sz="2000" b="1" dirty="0"/>
          </a:p>
          <a:p>
            <a:r>
              <a:rPr lang="en-US" sz="2000" dirty="0"/>
              <a:t>In RL: sequence of highly </a:t>
            </a:r>
            <a:r>
              <a:rPr lang="en-US" sz="2000" b="1" dirty="0"/>
              <a:t>correlated</a:t>
            </a:r>
            <a:r>
              <a:rPr lang="en-US" sz="2000" dirty="0"/>
              <a:t> states; 				data distribution changes as policy changes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3C878-1DAC-C8F4-3ECE-65F081E8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53" y="3233984"/>
            <a:ext cx="6987093" cy="31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45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5DFC-7B5E-C643-9A33-E7813797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Training - feed in states and learn?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32AEB-4FE2-A287-3C0A-BA87F60CE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4DDAB-1EBA-148D-7ABF-77CD1E397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FF984-41FB-C311-7285-AB3407A4C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334" y="3435626"/>
            <a:ext cx="5675331" cy="1794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2894B8-89CF-7E1B-DB2F-EC9E33256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19819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Solution: Experience replay in a replay memory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(Long-Ji Lin, 1993)</a:t>
                </a:r>
              </a:p>
              <a:p>
                <a:pPr lvl="1"/>
                <a:r>
                  <a:rPr lang="en-US" sz="2000" dirty="0"/>
                  <a:t>Store agent’s experiences &lt;s, a, r, s’&gt;</a:t>
                </a:r>
              </a:p>
              <a:p>
                <a:pPr lvl="1"/>
                <a:r>
                  <a:rPr lang="en-US" sz="2000" dirty="0"/>
                  <a:t>Random sampling </a:t>
                </a:r>
                <a:r>
                  <a:rPr lang="en-US" sz="2000" b="1" dirty="0"/>
                  <a:t>breaks correlation</a:t>
                </a:r>
              </a:p>
              <a:p>
                <a:pPr lvl="1"/>
                <a:r>
                  <a:rPr lang="en-US" sz="2000" dirty="0"/>
                  <a:t>Update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2894B8-89CF-7E1B-DB2F-EC9E33256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198196"/>
              </a:xfrm>
              <a:blipFill>
                <a:blip r:embed="rId3"/>
                <a:stretch>
                  <a:fillRect l="-696" t="-1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5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DA1B-C582-5804-55FE-28A894FB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BA85E09D-30AF-96DB-0A43-4E6636BA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3BF91D8-374E-C0E5-1EF6-5653B4226A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4610862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3BF91D8-374E-C0E5-1EF6-5653B4226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4610862" cy="4351338"/>
              </a:xfrm>
              <a:blipFill>
                <a:blip r:embed="rId2"/>
                <a:stretch>
                  <a:fillRect b="-99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15CCB0FD-E442-7EA1-7E6A-A896BE4680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4CA13904-A99F-0583-50DC-CF514EBD71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187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8033-8BD1-12B1-A680-630B8FF9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0D9715CB-8026-D8DB-E89A-9B6EE02B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16802AE5-8CCA-4857-A985-B886FEBF5D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71056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16802AE5-8CCA-4857-A985-B886FEBF5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71056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7FC228B-EC4A-FF9F-BCC3-5F7622B2ED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FD45320-E7C2-0DDA-E72A-66AF018CAF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6" name="Google Shape;1175;p41">
            <a:extLst>
              <a:ext uri="{FF2B5EF4-FFF2-40B4-BE49-F238E27FC236}">
                <a16:creationId xmlns:a16="http://schemas.microsoft.com/office/drawing/2014/main" id="{F9E3DC36-BC5E-68DC-6B92-4F751625C20B}"/>
              </a:ext>
            </a:extLst>
          </p:cNvPr>
          <p:cNvGraphicFramePr/>
          <p:nvPr/>
        </p:nvGraphicFramePr>
        <p:xfrm>
          <a:off x="4774916" y="1870076"/>
          <a:ext cx="1507886" cy="1888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7886">
                  <a:extLst>
                    <a:ext uri="{9D8B030D-6E8A-4147-A177-3AD203B41FA5}">
                      <a16:colId xmlns:a16="http://schemas.microsoft.com/office/drawing/2014/main" val="2557569584"/>
                    </a:ext>
                  </a:extLst>
                </a:gridCol>
              </a:tblGrid>
              <a:tr h="3717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ela Gothic One"/>
                          <a:ea typeface="Dela Gothic One"/>
                          <a:cs typeface="Dela Gothic One"/>
                          <a:sym typeface="Dela Gothic One"/>
                        </a:rPr>
                        <a:t>Replay Memory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...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8E46F4-838C-2763-8350-22B812B58D3F}"/>
              </a:ext>
            </a:extLst>
          </p:cNvPr>
          <p:cNvCxnSpPr>
            <a:cxnSpLocks/>
          </p:cNvCxnSpPr>
          <p:nvPr/>
        </p:nvCxnSpPr>
        <p:spPr>
          <a:xfrm>
            <a:off x="155685" y="196280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0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51F9-9ECE-2FCA-0941-5BAF8454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A7F45ED3-AF18-8F4F-9884-1B8AB246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AC207A34-D691-41C7-5FE1-8E75AF32997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72834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AC207A34-D691-41C7-5FE1-8E75AF329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72834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A52508D7-918F-402C-CA55-45B49D0753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C96E5875-2DEC-671D-08A6-5DC555B5F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105ABC-DDFB-8E59-3F25-E27041AD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72" y="1690689"/>
            <a:ext cx="4381356" cy="298119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E53828-8AB4-0634-DC0B-09A18E0A6A66}"/>
              </a:ext>
            </a:extLst>
          </p:cNvPr>
          <p:cNvCxnSpPr>
            <a:cxnSpLocks/>
          </p:cNvCxnSpPr>
          <p:nvPr/>
        </p:nvCxnSpPr>
        <p:spPr>
          <a:xfrm>
            <a:off x="155685" y="2293882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16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7794-FAC4-97DA-0255-37E3DB1A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73626844-35B4-AEBE-A639-657997B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07795FA-1752-7417-2AA9-92DA77A958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6781461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07795FA-1752-7417-2AA9-92DA77A95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6781461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B74DB7D-9F55-34F3-1954-F3916EC030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2FF3E121-FBEB-2B05-F6E7-67AAC435D8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7B626-AC87-C080-5E64-B5F1B50B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47" y="1825625"/>
            <a:ext cx="1120656" cy="1281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05ED34-271F-E91B-998A-F5265D6A6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47" y="1978025"/>
            <a:ext cx="1120656" cy="1281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66F660-D033-B29C-261B-088CE0CD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847" y="2130425"/>
            <a:ext cx="1120656" cy="1281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20B26C-1A68-5457-9EC6-86735894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47" y="2282825"/>
            <a:ext cx="1120656" cy="1281847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5215C441-A2F4-71F5-4D6D-53A8268B1F40}"/>
              </a:ext>
            </a:extLst>
          </p:cNvPr>
          <p:cNvSpPr/>
          <p:nvPr/>
        </p:nvSpPr>
        <p:spPr>
          <a:xfrm>
            <a:off x="6279303" y="25290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19C01F1A-11C0-D5AB-873F-285871E2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111" y="1899983"/>
            <a:ext cx="990600" cy="977900"/>
          </a:xfrm>
          <a:prstGeom prst="rect">
            <a:avLst/>
          </a:prstGeom>
        </p:spPr>
      </p:pic>
      <p:pic>
        <p:nvPicPr>
          <p:cNvPr id="19" name="Picture 18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0CE3BAD5-55EF-0F29-E9DE-2B9DEB963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511" y="2052383"/>
            <a:ext cx="990600" cy="977900"/>
          </a:xfrm>
          <a:prstGeom prst="rect">
            <a:avLst/>
          </a:prstGeom>
        </p:spPr>
      </p:pic>
      <p:pic>
        <p:nvPicPr>
          <p:cNvPr id="20" name="Picture 19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6A8B9A7D-3A5B-F1DC-C44A-D7D3C490F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911" y="2204783"/>
            <a:ext cx="990600" cy="977900"/>
          </a:xfrm>
          <a:prstGeom prst="rect">
            <a:avLst/>
          </a:prstGeom>
        </p:spPr>
      </p:pic>
      <p:pic>
        <p:nvPicPr>
          <p:cNvPr id="21" name="Picture 20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903E28A-1241-B338-8EE1-5389C379F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311" y="2357183"/>
            <a:ext cx="990600" cy="9779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B88D7F-3926-150F-03A2-B765A40CBB94}"/>
              </a:ext>
            </a:extLst>
          </p:cNvPr>
          <p:cNvCxnSpPr>
            <a:cxnSpLocks/>
          </p:cNvCxnSpPr>
          <p:nvPr/>
        </p:nvCxnSpPr>
        <p:spPr>
          <a:xfrm>
            <a:off x="155685" y="2814144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5B8A87-271E-69EB-2FF3-FD5AD1A3FADC}"/>
              </a:ext>
            </a:extLst>
          </p:cNvPr>
          <p:cNvCxnSpPr>
            <a:cxnSpLocks/>
          </p:cNvCxnSpPr>
          <p:nvPr/>
        </p:nvCxnSpPr>
        <p:spPr>
          <a:xfrm>
            <a:off x="155685" y="318268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64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FBBE-C775-9127-D94D-1B60A17C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377B73DC-8FF6-C176-1C36-44060A93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BE08B64D-EF26-B250-419B-837FFD4E0DE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60769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BE08B64D-EF26-B250-419B-837FFD4E0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60769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AEA22226-5B1D-ECB5-408B-465E4B2161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BD6ED121-34EF-FE59-C805-B19E4A911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22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10438C33-8F85-74CC-5BB1-7AE82DC28DE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80DD6-0414-9E43-202D-DF3A2C226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29" y="2821116"/>
            <a:ext cx="2731398" cy="1858520"/>
          </a:xfrm>
          <a:prstGeom prst="rect">
            <a:avLst/>
          </a:prstGeom>
        </p:spPr>
      </p:pic>
      <p:pic>
        <p:nvPicPr>
          <p:cNvPr id="14" name="Picture 13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C97DCB44-8F38-6B7B-ABF4-7888FBE4B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429" y="3284856"/>
            <a:ext cx="516688" cy="510064"/>
          </a:xfrm>
          <a:prstGeom prst="rect">
            <a:avLst/>
          </a:prstGeom>
        </p:spPr>
      </p:pic>
      <p:pic>
        <p:nvPicPr>
          <p:cNvPr id="15" name="Picture 14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097B79DB-2EFC-D252-6E02-AC77F844B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829" y="3437256"/>
            <a:ext cx="516688" cy="510064"/>
          </a:xfrm>
          <a:prstGeom prst="rect">
            <a:avLst/>
          </a:prstGeom>
        </p:spPr>
      </p:pic>
      <p:pic>
        <p:nvPicPr>
          <p:cNvPr id="16" name="Picture 15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6BF0A6F0-74D1-CCE4-B1DF-69E7FAD4D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229" y="3589656"/>
            <a:ext cx="516688" cy="510064"/>
          </a:xfrm>
          <a:prstGeom prst="rect">
            <a:avLst/>
          </a:prstGeom>
        </p:spPr>
      </p:pic>
      <p:pic>
        <p:nvPicPr>
          <p:cNvPr id="17" name="Picture 16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EDC1F5F9-81D9-D839-7EF3-9FEE95822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629" y="3742056"/>
            <a:ext cx="516688" cy="51006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6DC92E-D4CE-5461-AABF-ABEE9F1AD020}"/>
              </a:ext>
            </a:extLst>
          </p:cNvPr>
          <p:cNvCxnSpPr>
            <a:cxnSpLocks/>
          </p:cNvCxnSpPr>
          <p:nvPr/>
        </p:nvCxnSpPr>
        <p:spPr>
          <a:xfrm>
            <a:off x="155685" y="378703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2E4205-7157-D3F3-53D2-2A57817098F7}"/>
              </a:ext>
            </a:extLst>
          </p:cNvPr>
          <p:cNvCxnSpPr>
            <a:cxnSpLocks/>
          </p:cNvCxnSpPr>
          <p:nvPr/>
        </p:nvCxnSpPr>
        <p:spPr>
          <a:xfrm>
            <a:off x="155685" y="3581772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762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7DBF-C03D-4B32-CE39-59BF50D6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E5AA0A89-AA65-DE39-A3AF-FC001E29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5D2D8899-ED45-EFCE-1FED-FF49FC509E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8" y="1825625"/>
                <a:ext cx="5829301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5D2D8899-ED45-EFCE-1FED-FF49FC509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8" y="1825625"/>
                <a:ext cx="5829301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5E11FC40-41AA-E4F4-6862-FBDB42770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7252431-549D-6053-625F-B5C90A3AA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9081C9-379F-C5A9-9474-4F5A7C3FC14B}"/>
              </a:ext>
            </a:extLst>
          </p:cNvPr>
          <p:cNvCxnSpPr>
            <a:cxnSpLocks/>
          </p:cNvCxnSpPr>
          <p:nvPr/>
        </p:nvCxnSpPr>
        <p:spPr>
          <a:xfrm>
            <a:off x="279838" y="3957144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4BCC0BB-B5A4-2069-3641-0E4A69972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08" y="2101087"/>
            <a:ext cx="2321859" cy="2655826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2FDFD1-E72F-D9FD-2CEF-CAF06A436AAE}"/>
              </a:ext>
            </a:extLst>
          </p:cNvPr>
          <p:cNvCxnSpPr>
            <a:cxnSpLocks/>
          </p:cNvCxnSpPr>
          <p:nvPr/>
        </p:nvCxnSpPr>
        <p:spPr>
          <a:xfrm flipV="1">
            <a:off x="7891035" y="2763520"/>
            <a:ext cx="0" cy="264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1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3FCA-E600-30BC-119B-DE804DB8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B72343D6-7833-7EAC-1E07-DB0D7727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9A48F151-68F7-863B-B591-03EC518F8F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9A48F151-68F7-863B-B591-03EC518F8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54A00AC-6C18-8F26-9DCA-2FDF6360D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FDDB7656-7FE4-524D-40B3-14425F9A1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24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40F092DC-4704-9461-94CC-C48D60CD98A6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Google Shape;1175;p41">
                <a:extLst>
                  <a:ext uri="{FF2B5EF4-FFF2-40B4-BE49-F238E27FC236}">
                    <a16:creationId xmlns:a16="http://schemas.microsoft.com/office/drawing/2014/main" id="{16D6CE74-688D-BDD1-6502-BE655A63FA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0488707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de-DE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Google Shape;1175;p41">
                <a:extLst>
                  <a:ext uri="{FF2B5EF4-FFF2-40B4-BE49-F238E27FC236}">
                    <a16:creationId xmlns:a16="http://schemas.microsoft.com/office/drawing/2014/main" id="{16D6CE74-688D-BDD1-6502-BE655A63FA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0488707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de-DE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4742CA-F2C9-5302-1C10-3C237C662A05}"/>
              </a:ext>
            </a:extLst>
          </p:cNvPr>
          <p:cNvCxnSpPr>
            <a:cxnSpLocks/>
          </p:cNvCxnSpPr>
          <p:nvPr/>
        </p:nvCxnSpPr>
        <p:spPr>
          <a:xfrm>
            <a:off x="287721" y="414633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FBBBA3-B9D0-1876-377D-3BF566F7B792}"/>
              </a:ext>
            </a:extLst>
          </p:cNvPr>
          <p:cNvCxnSpPr>
            <a:cxnSpLocks/>
          </p:cNvCxnSpPr>
          <p:nvPr/>
        </p:nvCxnSpPr>
        <p:spPr>
          <a:xfrm>
            <a:off x="287721" y="436704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260FD9-AE44-4EE3-B876-2EDEFC35A4CF}"/>
              </a:ext>
            </a:extLst>
          </p:cNvPr>
          <p:cNvCxnSpPr>
            <a:cxnSpLocks/>
          </p:cNvCxnSpPr>
          <p:nvPr/>
        </p:nvCxnSpPr>
        <p:spPr>
          <a:xfrm>
            <a:off x="7212349" y="533505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3210DF8-62E5-1BF4-7B73-C95BAAA9A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408" y="2101087"/>
            <a:ext cx="2321859" cy="265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74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105A-E6E2-879E-60EC-7C0A21DF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8DF58916-BFEF-8F34-6C55-E760FFFE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A8BC40B-F7E4-5619-10C6-30013B76B69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4864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A8BC40B-F7E4-5619-10C6-30013B76B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48640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CB130A94-B672-B211-43C8-6BA8E2DF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8D3D8B12-476E-36BE-FBC3-DF5FB705A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41FCA-59C5-02A5-48E6-58064B3D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15" r="2485"/>
          <a:stretch>
            <a:fillRect/>
          </a:stretch>
        </p:blipFill>
        <p:spPr>
          <a:xfrm>
            <a:off x="5670301" y="1836202"/>
            <a:ext cx="2964318" cy="2825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15ABF8-54B2-731F-0DBE-E3201604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894" y="2356793"/>
            <a:ext cx="211265" cy="26071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DD64B7-7E77-6E7E-5479-673A13EA7EFB}"/>
              </a:ext>
            </a:extLst>
          </p:cNvPr>
          <p:cNvCxnSpPr>
            <a:cxnSpLocks/>
          </p:cNvCxnSpPr>
          <p:nvPr/>
        </p:nvCxnSpPr>
        <p:spPr>
          <a:xfrm>
            <a:off x="287721" y="414633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105B6E-10BB-AB2E-FA89-61CF0F293826}"/>
              </a:ext>
            </a:extLst>
          </p:cNvPr>
          <p:cNvCxnSpPr>
            <a:cxnSpLocks/>
          </p:cNvCxnSpPr>
          <p:nvPr/>
        </p:nvCxnSpPr>
        <p:spPr>
          <a:xfrm>
            <a:off x="287721" y="436704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Google Shape;1175;p41">
                <a:extLst>
                  <a:ext uri="{FF2B5EF4-FFF2-40B4-BE49-F238E27FC236}">
                    <a16:creationId xmlns:a16="http://schemas.microsoft.com/office/drawing/2014/main" id="{43C44496-38CA-892E-BDEC-A261E0D73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4572053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Google Shape;1175;p41">
                <a:extLst>
                  <a:ext uri="{FF2B5EF4-FFF2-40B4-BE49-F238E27FC236}">
                    <a16:creationId xmlns:a16="http://schemas.microsoft.com/office/drawing/2014/main" id="{43C44496-38CA-892E-BDEC-A261E0D73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4572053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366ED1-EB79-85A6-AA49-3743AFE15987}"/>
              </a:ext>
            </a:extLst>
          </p:cNvPr>
          <p:cNvCxnSpPr>
            <a:cxnSpLocks/>
          </p:cNvCxnSpPr>
          <p:nvPr/>
        </p:nvCxnSpPr>
        <p:spPr>
          <a:xfrm>
            <a:off x="7212349" y="60637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62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08CE-96FD-5572-434E-0345556D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A2F8CDBD-2A7C-31DD-F331-BDFB9C0D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C1D7DF6-85D7-9BC2-8E5C-C666787576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3403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C1D7DF6-85D7-9BC2-8E5C-C66678757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3403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FCF54A2B-0AA4-4DE0-689B-49B73F794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593226F9-777A-CE74-2B24-664C99A0C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26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81F51AB4-1368-8495-0A2E-2FB7B2C99069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26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8D89B7-3DDA-44C0-8965-7EDCBCAD179F}"/>
              </a:ext>
            </a:extLst>
          </p:cNvPr>
          <p:cNvCxnSpPr>
            <a:cxnSpLocks/>
          </p:cNvCxnSpPr>
          <p:nvPr/>
        </p:nvCxnSpPr>
        <p:spPr>
          <a:xfrm>
            <a:off x="277561" y="45397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C4EF2A-312E-F019-5C5C-B2E96E961778}"/>
              </a:ext>
            </a:extLst>
          </p:cNvPr>
          <p:cNvCxnSpPr>
            <a:cxnSpLocks/>
          </p:cNvCxnSpPr>
          <p:nvPr/>
        </p:nvCxnSpPr>
        <p:spPr>
          <a:xfrm>
            <a:off x="277561" y="496648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6334F9-FC41-EC02-AE99-8F7BB4FCB1E3}"/>
              </a:ext>
            </a:extLst>
          </p:cNvPr>
          <p:cNvCxnSpPr>
            <a:cxnSpLocks/>
          </p:cNvCxnSpPr>
          <p:nvPr/>
        </p:nvCxnSpPr>
        <p:spPr>
          <a:xfrm>
            <a:off x="277561" y="54541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Google Shape;1175;p41">
                <a:extLst>
                  <a:ext uri="{FF2B5EF4-FFF2-40B4-BE49-F238E27FC236}">
                    <a16:creationId xmlns:a16="http://schemas.microsoft.com/office/drawing/2014/main" id="{F7A09895-3A10-A4E0-E175-42069AAC6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243408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Google Shape;1175;p41">
                <a:extLst>
                  <a:ext uri="{FF2B5EF4-FFF2-40B4-BE49-F238E27FC236}">
                    <a16:creationId xmlns:a16="http://schemas.microsoft.com/office/drawing/2014/main" id="{F7A09895-3A10-A4E0-E175-42069AAC6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243408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0AFAC3-EBB0-A141-9556-4465AB5EBE94}"/>
              </a:ext>
            </a:extLst>
          </p:cNvPr>
          <p:cNvCxnSpPr>
            <a:cxnSpLocks/>
          </p:cNvCxnSpPr>
          <p:nvPr/>
        </p:nvCxnSpPr>
        <p:spPr>
          <a:xfrm flipH="1">
            <a:off x="6855278" y="6053607"/>
            <a:ext cx="830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8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33A3-EA2F-D298-7FC6-62C3FC4E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705B75A6-4A04-4C72-9602-9C366AF0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5D0FAB0-6E83-CED4-54E8-24D29F7E488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de-DE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𝑈𝑃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i="1" dirty="0" err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de-DE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UP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gets closer to 1</a:t>
                </a: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5D0FAB0-6E83-CED4-54E8-24D29F7E4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  <a:blipFill>
                <a:blip r:embed="rId2"/>
                <a:stretch>
                  <a:fillRect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83286768-EB7B-977C-C3F7-91891E5FDD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BCFD2B9-88AB-3C8F-F63B-EBDF68AE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27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5CB620C8-E435-5211-68CF-FD875B324E4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DFF9B2-DE29-FDF2-728D-B23363546DE7}"/>
              </a:ext>
            </a:extLst>
          </p:cNvPr>
          <p:cNvCxnSpPr>
            <a:cxnSpLocks/>
          </p:cNvCxnSpPr>
          <p:nvPr/>
        </p:nvCxnSpPr>
        <p:spPr>
          <a:xfrm>
            <a:off x="392167" y="241753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1FABA1-42AA-8352-701E-56DD3F234BA0}"/>
              </a:ext>
            </a:extLst>
          </p:cNvPr>
          <p:cNvCxnSpPr>
            <a:cxnSpLocks/>
          </p:cNvCxnSpPr>
          <p:nvPr/>
        </p:nvCxnSpPr>
        <p:spPr>
          <a:xfrm>
            <a:off x="392167" y="297351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DA28FBDD-0048-1E80-0013-442971BD09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4550961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DA28FBDD-0048-1E80-0013-442971BD09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4550961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E1ED46-A19E-92FB-307E-2C0A98E6C28D}"/>
              </a:ext>
            </a:extLst>
          </p:cNvPr>
          <p:cNvCxnSpPr>
            <a:cxnSpLocks/>
          </p:cNvCxnSpPr>
          <p:nvPr/>
        </p:nvCxnSpPr>
        <p:spPr>
          <a:xfrm flipH="1">
            <a:off x="6627062" y="6053607"/>
            <a:ext cx="1058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672CBB4-EDE5-11C5-E7F5-111D59626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29" y="2973516"/>
            <a:ext cx="2731398" cy="1858520"/>
          </a:xfrm>
          <a:prstGeom prst="rect">
            <a:avLst/>
          </a:prstGeom>
        </p:spPr>
      </p:pic>
      <p:pic>
        <p:nvPicPr>
          <p:cNvPr id="29" name="Picture 2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7ED7898B-AE3B-A196-7572-E99840411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7" y="3429000"/>
            <a:ext cx="535287" cy="510064"/>
          </a:xfrm>
          <a:prstGeom prst="rect">
            <a:avLst/>
          </a:prstGeom>
        </p:spPr>
      </p:pic>
      <p:pic>
        <p:nvPicPr>
          <p:cNvPr id="38" name="Picture 37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4619D2BE-A1ED-595C-7FA0-A3C6DCD05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248" y="3505200"/>
            <a:ext cx="535287" cy="510064"/>
          </a:xfrm>
          <a:prstGeom prst="rect">
            <a:avLst/>
          </a:prstGeom>
        </p:spPr>
      </p:pic>
      <p:pic>
        <p:nvPicPr>
          <p:cNvPr id="39" name="Picture 3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6D3885D3-C787-FF5C-1DD8-1530D6460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950" y="3619500"/>
            <a:ext cx="535287" cy="510064"/>
          </a:xfrm>
          <a:prstGeom prst="rect">
            <a:avLst/>
          </a:prstGeom>
        </p:spPr>
      </p:pic>
      <p:pic>
        <p:nvPicPr>
          <p:cNvPr id="40" name="Picture 39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536ADCD8-863D-55AB-AD8F-600F5981D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6" y="3684588"/>
            <a:ext cx="535287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07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07B4-353B-7593-DA39-7B69B345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F7003190-2CBD-7D80-42F9-4F0E0B5A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7BEA681C-CFB2-CE3F-086A-95E47CBB40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39961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 2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0+</m:t>
                    </m:r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e>
                      <m:sub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sz="120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𝐷𝑂𝑊𝑁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i="1" dirty="0" err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de-DE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DOWN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gets closer to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ⱼ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7BEA681C-CFB2-CE3F-086A-95E47CBB4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399617" cy="4351338"/>
              </a:xfrm>
              <a:blipFill>
                <a:blip r:embed="rId2"/>
                <a:stretch>
                  <a:fillRect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B3F2AE5F-AB6E-3B68-EB90-69637307A9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FF80D1DE-558A-DF56-09BC-C9E09FB38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28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BB8D8ABB-9E57-F61C-8672-45DED9C2813F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895942-5B1E-0C14-BC1F-45CF9DBD26B4}"/>
              </a:ext>
            </a:extLst>
          </p:cNvPr>
          <p:cNvCxnSpPr>
            <a:cxnSpLocks/>
          </p:cNvCxnSpPr>
          <p:nvPr/>
        </p:nvCxnSpPr>
        <p:spPr>
          <a:xfrm>
            <a:off x="392167" y="241753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9ABCAD-939E-F14A-269D-1BE5C110686E}"/>
              </a:ext>
            </a:extLst>
          </p:cNvPr>
          <p:cNvCxnSpPr>
            <a:cxnSpLocks/>
          </p:cNvCxnSpPr>
          <p:nvPr/>
        </p:nvCxnSpPr>
        <p:spPr>
          <a:xfrm>
            <a:off x="392167" y="297351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7F2E9B30-D0AE-42B9-07BD-9CD7F9ABA0F2}"/>
                  </a:ext>
                </a:extLst>
              </p:cNvPr>
              <p:cNvGraphicFramePr/>
              <p:nvPr/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7F2E9B30-D0AE-42B9-07BD-9CD7F9ABA0F2}"/>
                  </a:ext>
                </a:extLst>
              </p:cNvPr>
              <p:cNvGraphicFramePr/>
              <p:nvPr/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DC208-0E31-B0BF-DEEE-71EDA282D0BA}"/>
              </a:ext>
            </a:extLst>
          </p:cNvPr>
          <p:cNvCxnSpPr>
            <a:cxnSpLocks/>
          </p:cNvCxnSpPr>
          <p:nvPr/>
        </p:nvCxnSpPr>
        <p:spPr>
          <a:xfrm flipH="1">
            <a:off x="6627062" y="5677687"/>
            <a:ext cx="1058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069746-9755-8A7D-3F38-0DDDB2A2B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29" y="2973516"/>
            <a:ext cx="2731398" cy="1858520"/>
          </a:xfrm>
          <a:prstGeom prst="rect">
            <a:avLst/>
          </a:prstGeom>
        </p:spPr>
      </p:pic>
      <p:pic>
        <p:nvPicPr>
          <p:cNvPr id="29" name="Picture 2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6ACEF917-962D-B5D3-E397-BD2A0567A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7" y="3429000"/>
            <a:ext cx="535287" cy="510064"/>
          </a:xfrm>
          <a:prstGeom prst="rect">
            <a:avLst/>
          </a:prstGeom>
        </p:spPr>
      </p:pic>
      <p:pic>
        <p:nvPicPr>
          <p:cNvPr id="38" name="Picture 37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8157C45A-DC5D-471C-94E6-4D71E089A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248" y="3505200"/>
            <a:ext cx="535287" cy="510064"/>
          </a:xfrm>
          <a:prstGeom prst="rect">
            <a:avLst/>
          </a:prstGeom>
        </p:spPr>
      </p:pic>
      <p:pic>
        <p:nvPicPr>
          <p:cNvPr id="39" name="Picture 3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A8A9E8E0-5087-217C-15D6-CBABEF099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950" y="3619500"/>
            <a:ext cx="535287" cy="510064"/>
          </a:xfrm>
          <a:prstGeom prst="rect">
            <a:avLst/>
          </a:prstGeom>
        </p:spPr>
      </p:pic>
      <p:pic>
        <p:nvPicPr>
          <p:cNvPr id="40" name="Picture 39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C4C10A82-B3DA-8C59-48DD-82B57823A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6" y="3684588"/>
            <a:ext cx="535287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7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ACDD-627C-0437-8E40-E46CCD2D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944012C9-701D-2A90-F4BD-F518A2D6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E4B9BECB-5FE5-D61E-1FE2-CCF0F3F001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E4B9BECB-5FE5-D61E-1FE2-CCF0F3F00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69C7B2E3-C4E0-5263-F40F-61AD0C3DE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E2C332AE-FFBC-289D-C8C6-1DF963D1AE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77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itle 1">
            <a:extLst>
              <a:ext uri="{FF2B5EF4-FFF2-40B4-BE49-F238E27FC236}">
                <a16:creationId xmlns:a16="http://schemas.microsoft.com/office/drawing/2014/main" id="{31CE0FC2-F7F8-BA87-FBCF-CAFC3F80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65126"/>
            <a:ext cx="8032750" cy="1325563"/>
          </a:xfrm>
        </p:spPr>
        <p:txBody>
          <a:bodyPr>
            <a:normAutofit/>
          </a:bodyPr>
          <a:lstStyle/>
          <a:p>
            <a:r>
              <a:rPr lang="en" sz="4000" b="1" dirty="0">
                <a:sym typeface="Spectral"/>
              </a:rPr>
              <a:t>DEEP Q-NETWORK ARCHITECTURE</a:t>
            </a:r>
            <a:endParaRPr lang="en-US" sz="4000" b="1" dirty="0"/>
          </a:p>
        </p:txBody>
      </p:sp>
      <p:pic>
        <p:nvPicPr>
          <p:cNvPr id="9218" name="Picture 2">
            <a:hlinkClick r:id="rId2"/>
            <a:extLst>
              <a:ext uri="{FF2B5EF4-FFF2-40B4-BE49-F238E27FC236}">
                <a16:creationId xmlns:a16="http://schemas.microsoft.com/office/drawing/2014/main" id="{E79B973B-DA17-7D0C-FFED-3EF82E14B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1989677"/>
            <a:ext cx="7886700" cy="287864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D0E56-F7BD-349F-EF13-EA08F5C6AB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4BE33-B0AC-0E0C-D1C5-E54ECC3A27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7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8C15-22FC-01F2-41A0-D5EC4295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63" y="413922"/>
            <a:ext cx="8343072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Gymnasium Atari Environments (</a:t>
            </a:r>
            <a:r>
              <a:rPr lang="de-DE" sz="4000" b="1" u="sng" dirty="0">
                <a:hlinkClick r:id="rId2"/>
              </a:rPr>
              <a:t>ALE</a:t>
            </a:r>
            <a:r>
              <a:rPr lang="de-DE" sz="4000" b="1" dirty="0"/>
              <a:t>)</a:t>
            </a:r>
            <a:endParaRPr lang="en-US" sz="40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90229A4-9FEE-6B5B-C628-F3D1D8C26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426F2-3E75-50EF-7AD4-59CE7DEF7B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2C5F-AA03-5508-9C0E-0B60F7E69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EB7DEA-0344-872D-001A-72AE310F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31" y="1739485"/>
            <a:ext cx="7640537" cy="435133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505EACF-FDE9-51D0-C107-E3BD99111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047" y="1426332"/>
            <a:ext cx="626305" cy="62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539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139F-3054-2620-D913-72314382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Convolutional</a:t>
            </a:r>
            <a:r>
              <a:rPr lang="de-DE" sz="4000" b="1" dirty="0"/>
              <a:t> </a:t>
            </a:r>
            <a:r>
              <a:rPr lang="de-DE" sz="4000" b="1" dirty="0" err="1"/>
              <a:t>Neural</a:t>
            </a:r>
            <a:r>
              <a:rPr lang="de-DE" sz="4000" b="1" dirty="0"/>
              <a:t>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5D8A-716A-652F-C89C-BEFE16186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904A5-2D35-04A4-943C-A4E013F777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B0652-7430-6C6D-4414-CEC681154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Google Shape;315;p49" title="codeimg-facebook-shared-image.jpeg">
            <a:extLst>
              <a:ext uri="{FF2B5EF4-FFF2-40B4-BE49-F238E27FC236}">
                <a16:creationId xmlns:a16="http://schemas.microsoft.com/office/drawing/2014/main" id="{37DC7D31-547E-5F8E-8F0B-9D195F6BCA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933" t="7382" r="4154" b="8823"/>
          <a:stretch/>
        </p:blipFill>
        <p:spPr>
          <a:xfrm>
            <a:off x="465300" y="1825625"/>
            <a:ext cx="8213400" cy="4139400"/>
          </a:xfrm>
          <a:prstGeom prst="roundRect">
            <a:avLst>
              <a:gd name="adj" fmla="val 4141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090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FEEB4C-A4A9-3B69-C9ED-2CC4BBE9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Initialization</a:t>
            </a:r>
            <a:r>
              <a:rPr lang="de-DE" sz="4000" b="1" dirty="0"/>
              <a:t> and Loops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C55D-CAE7-AB71-1AE6-9A53AA79D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B423BB-710F-0802-CA08-C84DCDF48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01499-7F99-2ECB-2E7A-AD521B16E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Google Shape;321;p50">
            <a:extLst>
              <a:ext uri="{FF2B5EF4-FFF2-40B4-BE49-F238E27FC236}">
                <a16:creationId xmlns:a16="http://schemas.microsoft.com/office/drawing/2014/main" id="{AEBC4BAA-069B-BB1F-701B-12F998ED63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352644"/>
            <a:ext cx="8520600" cy="3297300"/>
          </a:xfrm>
          <a:prstGeom prst="roundRect">
            <a:avLst>
              <a:gd name="adj" fmla="val 7329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642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6B2F45-FBEA-D821-5564-946380B5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Epsilon-</a:t>
            </a:r>
            <a:r>
              <a:rPr lang="de-DE" sz="4000" b="1" dirty="0" err="1"/>
              <a:t>Greedy</a:t>
            </a:r>
            <a:r>
              <a:rPr lang="de-DE" sz="4000" b="1" dirty="0"/>
              <a:t> </a:t>
            </a:r>
            <a:r>
              <a:rPr lang="de-DE" sz="4000" b="1" dirty="0" err="1"/>
              <a:t>Strategy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BC574-06A4-2BAE-B899-26FAAA561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64F24D-2186-107E-EB64-85D0AB2136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0BCA1-1367-1E09-42AF-B2FDC23A5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34</a:t>
            </a:fld>
            <a:endParaRPr lang="en-US" dirty="0"/>
          </a:p>
        </p:txBody>
      </p:sp>
      <p:pic>
        <p:nvPicPr>
          <p:cNvPr id="4" name="Google Shape;327;p51">
            <a:extLst>
              <a:ext uri="{FF2B5EF4-FFF2-40B4-BE49-F238E27FC236}">
                <a16:creationId xmlns:a16="http://schemas.microsoft.com/office/drawing/2014/main" id="{70708AAB-C228-6D41-0058-B55EEFB9CB2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450" y="2624894"/>
            <a:ext cx="8609100" cy="2752800"/>
          </a:xfrm>
          <a:prstGeom prst="roundRect">
            <a:avLst>
              <a:gd name="adj" fmla="val 6168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563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FB74AD-0F3E-4917-AB05-857E40EB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Execute action and store in replay memory</a:t>
            </a:r>
            <a:endParaRPr lang="en-US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224DE-5685-A725-7F37-8085EDA52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7EA175-08BE-56F9-3AD7-93B118FE13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EABFC-321B-B0C5-C73A-7714C97D7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35</a:t>
            </a:fld>
            <a:endParaRPr lang="en-US" dirty="0"/>
          </a:p>
        </p:txBody>
      </p:sp>
      <p:pic>
        <p:nvPicPr>
          <p:cNvPr id="4" name="Google Shape;333;p52">
            <a:extLst>
              <a:ext uri="{FF2B5EF4-FFF2-40B4-BE49-F238E27FC236}">
                <a16:creationId xmlns:a16="http://schemas.microsoft.com/office/drawing/2014/main" id="{A84A7710-6370-6954-F078-806F0BB9200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591594"/>
            <a:ext cx="8520600" cy="2819400"/>
          </a:xfrm>
          <a:prstGeom prst="roundRect">
            <a:avLst>
              <a:gd name="adj" fmla="val 5764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45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CF1655-CC9F-E0F3-656A-475175B7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Sample Transaction and perform Gradient Descent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DC5C5-7950-64BC-516C-6BE7E0BD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971DE0-3633-ADEC-7215-03B33F6BB2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81F807-44D9-441C-9588-60505C8095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Google Shape;339;p53">
            <a:extLst>
              <a:ext uri="{FF2B5EF4-FFF2-40B4-BE49-F238E27FC236}">
                <a16:creationId xmlns:a16="http://schemas.microsoft.com/office/drawing/2014/main" id="{C48FDE80-B35A-5E3B-3602-15C46CCA2F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1650" y="2595051"/>
            <a:ext cx="8480700" cy="3287700"/>
          </a:xfrm>
          <a:prstGeom prst="roundRect">
            <a:avLst>
              <a:gd name="adj" fmla="val 5612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9039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503E08-7D9C-94BB-9085-53D7023A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to compute Y (Optimal Q Prediction)</a:t>
            </a:r>
            <a:endParaRPr lang="de-DE" sz="4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8ED33-3420-B302-3E6B-A89E49FC4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8A12AE-9B1F-37F5-6D75-8BC406D99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C98BA4-9D0E-2833-F2C1-05DD769ABE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37</a:t>
            </a:fld>
            <a:endParaRPr lang="en-US" dirty="0"/>
          </a:p>
        </p:txBody>
      </p:sp>
      <p:pic>
        <p:nvPicPr>
          <p:cNvPr id="4" name="Google Shape;345;p54">
            <a:extLst>
              <a:ext uri="{FF2B5EF4-FFF2-40B4-BE49-F238E27FC236}">
                <a16:creationId xmlns:a16="http://schemas.microsoft.com/office/drawing/2014/main" id="{53EF6226-9A1B-EEA8-60DF-43395E3C41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4300" y="2640180"/>
            <a:ext cx="8555400" cy="3259500"/>
          </a:xfrm>
          <a:prstGeom prst="roundRect">
            <a:avLst>
              <a:gd name="adj" fmla="val 5022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436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C01BB-1C60-5440-F1A8-5AC5423A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b="1" dirty="0" err="1"/>
              <a:t>Results</a:t>
            </a:r>
            <a:endParaRPr lang="de-DE" sz="40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D0BB19-6105-E3D4-602C-5850015C8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CA961-5DB4-CA62-0DEF-592244E556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EFF19-67BC-9D08-83EF-9DBFEF26F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9" y="1393135"/>
            <a:ext cx="8189843" cy="2216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52EFE-E14D-9D52-CD56-4D2DEDE93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10" y="3624234"/>
            <a:ext cx="2001078" cy="325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A9C807-1D40-A435-52F9-236DA5AE9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609" y="4097428"/>
            <a:ext cx="5882762" cy="2076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70FF9F-95F7-4E93-1373-D05A103DA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74" y="6173697"/>
            <a:ext cx="1663976" cy="2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4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92A1-1005-E8B7-4CCA-7FC9B1D1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E254E6-8F1F-4CA2-3B6F-E4027886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2260690" y="1578047"/>
            <a:ext cx="4622620" cy="4067904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B4616-5396-2B08-F6EB-1DB475C7A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3DD33-B5B4-EDAB-3518-DFE657D58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4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CA81-83FA-B49A-B79E-2235D79D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5D53-3955-AEDC-E299-D8836A76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C764E-338B-A516-A225-E539F6D75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DC4A2-EA41-78A4-0883-3A5B0EE9B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9" name="Google Shape;223;p36">
            <a:extLst>
              <a:ext uri="{FF2B5EF4-FFF2-40B4-BE49-F238E27FC236}">
                <a16:creationId xmlns:a16="http://schemas.microsoft.com/office/drawing/2014/main" id="{5502EE69-B71C-B9AF-36DB-2C6433A8D3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275" y="1856743"/>
            <a:ext cx="2090900" cy="27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24;p36">
            <a:extLst>
              <a:ext uri="{FF2B5EF4-FFF2-40B4-BE49-F238E27FC236}">
                <a16:creationId xmlns:a16="http://schemas.microsoft.com/office/drawing/2014/main" id="{BE7AEF0A-A576-4B24-1AD0-43E9804405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550" y="1856731"/>
            <a:ext cx="2090900" cy="27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25;p36">
            <a:extLst>
              <a:ext uri="{FF2B5EF4-FFF2-40B4-BE49-F238E27FC236}">
                <a16:creationId xmlns:a16="http://schemas.microsoft.com/office/drawing/2014/main" id="{129EF8E5-BCB6-9A0A-7C3F-4B5D09A37D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1825" y="1856734"/>
            <a:ext cx="2090900" cy="274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26;p36">
            <a:extLst>
              <a:ext uri="{FF2B5EF4-FFF2-40B4-BE49-F238E27FC236}">
                <a16:creationId xmlns:a16="http://schemas.microsoft.com/office/drawing/2014/main" id="{786D7CDE-CFE5-5428-A0D4-66EE1B81645D}"/>
              </a:ext>
            </a:extLst>
          </p:cNvPr>
          <p:cNvSpPr txBox="1"/>
          <p:nvPr/>
        </p:nvSpPr>
        <p:spPr>
          <a:xfrm>
            <a:off x="813800" y="4601068"/>
            <a:ext cx="720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400 episodes                                     600 episodes                                    800 episodes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1466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9A87-C7A4-4CD4-0087-121793A7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  <a:endParaRPr lang="de-DE" sz="4000" dirty="0"/>
          </a:p>
        </p:txBody>
      </p:sp>
      <p:pic>
        <p:nvPicPr>
          <p:cNvPr id="9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58084A-E55F-EF2B-2B3E-15E6E2929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079" y="1825625"/>
            <a:ext cx="7297841" cy="4351338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AD76-3FAE-AA0B-D4AE-A997BEEA78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6A25-E86A-0265-1970-6A14F36052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96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6F5-4F9D-B0B4-6F50-105D0CB0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</a:t>
            </a:r>
            <a:r>
              <a:rPr lang="de-DE" sz="4000" b="1" dirty="0" err="1"/>
              <a:t>PacMan</a:t>
            </a:r>
            <a:r>
              <a:rPr lang="de-DE" sz="4000" b="1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C792A-9BF2-A66C-7785-E2DA45869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EE1FE-870E-A3AB-9628-5D6A5893B7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42</a:t>
            </a:fld>
            <a:endParaRPr lang="en-US" dirty="0"/>
          </a:p>
        </p:txBody>
      </p:sp>
      <p:pic>
        <p:nvPicPr>
          <p:cNvPr id="9" name="Content Placeholder 8" descr="A graph showing a blue and orange line">
            <a:extLst>
              <a:ext uri="{FF2B5EF4-FFF2-40B4-BE49-F238E27FC236}">
                <a16:creationId xmlns:a16="http://schemas.microsoft.com/office/drawing/2014/main" id="{DE4B90E3-96B9-8B98-88BB-83039CB20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70593"/>
            <a:ext cx="7886700" cy="3943350"/>
          </a:xfrm>
        </p:spPr>
      </p:pic>
    </p:spTree>
    <p:extLst>
      <p:ext uri="{BB962C8B-B14F-4D97-AF65-F5344CB8AC3E}">
        <p14:creationId xmlns:p14="http://schemas.microsoft.com/office/powerpoint/2010/main" val="3820835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FA53F8-69DB-F64B-190B-DBFF27BAC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" b="1" dirty="0"/>
              <a:t>Limitations &amp; Subsequent Work</a:t>
            </a:r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62C559-3A36-60A4-0D0A-E8D7FA6959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FED51-39A6-C8BA-FA2C-3A55A6C337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9E99C-6F4C-0072-6DB7-7731B8CBB7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23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E531-4963-814B-7D98-603B55EB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Network Layout and Size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F0A33-7B89-504D-550D-CFA5F0AA2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BA57B-1E40-B704-3570-677854691A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Google Shape;392;p62">
            <a:extLst>
              <a:ext uri="{FF2B5EF4-FFF2-40B4-BE49-F238E27FC236}">
                <a16:creationId xmlns:a16="http://schemas.microsoft.com/office/drawing/2014/main" id="{BC38E8CD-AAEA-AD33-BE61-C540E9F30DDD}"/>
              </a:ext>
            </a:extLst>
          </p:cNvPr>
          <p:cNvSpPr txBox="1">
            <a:spLocks/>
          </p:cNvSpPr>
          <p:nvPr/>
        </p:nvSpPr>
        <p:spPr>
          <a:xfrm>
            <a:off x="246375" y="175699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de-DE" dirty="0"/>
          </a:p>
        </p:txBody>
      </p:sp>
      <p:pic>
        <p:nvPicPr>
          <p:cNvPr id="7" name="Google Shape;393;p62">
            <a:hlinkClick r:id="rId2"/>
            <a:extLst>
              <a:ext uri="{FF2B5EF4-FFF2-40B4-BE49-F238E27FC236}">
                <a16:creationId xmlns:a16="http://schemas.microsoft.com/office/drawing/2014/main" id="{3FEC643F-FD0F-204A-EB90-3C2F5557F2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5" y="2619691"/>
            <a:ext cx="4243375" cy="2093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94;p62">
            <a:hlinkClick r:id="rId4"/>
            <a:extLst>
              <a:ext uri="{FF2B5EF4-FFF2-40B4-BE49-F238E27FC236}">
                <a16:creationId xmlns:a16="http://schemas.microsoft.com/office/drawing/2014/main" id="{E421C0B5-50E6-9C9D-4DDA-586E395DEE8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2730" y="2597426"/>
            <a:ext cx="4636545" cy="211616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5;p62">
            <a:extLst>
              <a:ext uri="{FF2B5EF4-FFF2-40B4-BE49-F238E27FC236}">
                <a16:creationId xmlns:a16="http://schemas.microsoft.com/office/drawing/2014/main" id="{1024EE70-98E1-0375-9EC3-399ADAE4F443}"/>
              </a:ext>
            </a:extLst>
          </p:cNvPr>
          <p:cNvSpPr txBox="1"/>
          <p:nvPr/>
        </p:nvSpPr>
        <p:spPr>
          <a:xfrm>
            <a:off x="490525" y="4962765"/>
            <a:ext cx="3314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Convolutional Neural Network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(6*10^5 Parameters)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" name="Google Shape;396;p62">
            <a:extLst>
              <a:ext uri="{FF2B5EF4-FFF2-40B4-BE49-F238E27FC236}">
                <a16:creationId xmlns:a16="http://schemas.microsoft.com/office/drawing/2014/main" id="{F49E68C1-875C-D2AB-8F80-BF9167D391D3}"/>
              </a:ext>
            </a:extLst>
          </p:cNvPr>
          <p:cNvSpPr txBox="1"/>
          <p:nvPr/>
        </p:nvSpPr>
        <p:spPr>
          <a:xfrm>
            <a:off x="5111500" y="4930065"/>
            <a:ext cx="3467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Modern Image Classifier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(Up to 8*10^6 Parameters)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1" name="Google Shape;397;p62">
            <a:extLst>
              <a:ext uri="{FF2B5EF4-FFF2-40B4-BE49-F238E27FC236}">
                <a16:creationId xmlns:a16="http://schemas.microsoft.com/office/drawing/2014/main" id="{AE370633-EA36-EBEF-7340-45C39D84C620}"/>
              </a:ext>
            </a:extLst>
          </p:cNvPr>
          <p:cNvSpPr txBox="1"/>
          <p:nvPr/>
        </p:nvSpPr>
        <p:spPr>
          <a:xfrm>
            <a:off x="4243375" y="5003590"/>
            <a:ext cx="7431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vs.</a:t>
            </a: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825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FBB8-532C-73E4-FB56-398A3759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" sz="4000" b="1" dirty="0"/>
              <a:t>Loss/Reward Calculation</a:t>
            </a:r>
            <a:endParaRPr lang="de-DE" sz="4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82414-B1DC-4972-1E97-103C527DA6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0F384-5D68-1269-7372-203BBA522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Google Shape;403;p63">
            <a:extLst>
              <a:ext uri="{FF2B5EF4-FFF2-40B4-BE49-F238E27FC236}">
                <a16:creationId xmlns:a16="http://schemas.microsoft.com/office/drawing/2014/main" id="{DCEC7640-C61C-AECA-81B6-0E4A457CC32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r="39290" b="9657"/>
          <a:stretch/>
        </p:blipFill>
        <p:spPr>
          <a:xfrm>
            <a:off x="1183746" y="1479473"/>
            <a:ext cx="6776508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93E49CC8-4535-3CE7-C8D6-42BBBD19E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176" y="2555421"/>
            <a:ext cx="5665648" cy="34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61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AF68-8C05-14E0-F5D0-F8D5F6F0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" sz="4000" b="1" dirty="0"/>
              <a:t>Limitations</a:t>
            </a:r>
            <a:endParaRPr lang="de-DE" sz="4000" b="1" dirty="0"/>
          </a:p>
        </p:txBody>
      </p:sp>
      <p:pic>
        <p:nvPicPr>
          <p:cNvPr id="8" name="Content Placeholder 7" descr="A video game with a pixelated screen">
            <a:extLst>
              <a:ext uri="{FF2B5EF4-FFF2-40B4-BE49-F238E27FC236}">
                <a16:creationId xmlns:a16="http://schemas.microsoft.com/office/drawing/2014/main" id="{FA8B2AD7-48A3-9442-77CB-651690762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355" y="2107267"/>
            <a:ext cx="5903289" cy="346527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A9ADB-9718-7FD8-3C42-221383378F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0FDFD-BC3E-9A45-8010-8627C912DE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881F8-C65A-B370-7168-2D83E602CD3B}"/>
              </a:ext>
            </a:extLst>
          </p:cNvPr>
          <p:cNvSpPr txBox="1"/>
          <p:nvPr/>
        </p:nvSpPr>
        <p:spPr>
          <a:xfrm>
            <a:off x="5174974" y="5625548"/>
            <a:ext cx="236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3"/>
              </a:rPr>
              <a:t>Montezumas Revenge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9863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B252-8E3E-BE2D-0C12-FAE426B0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" sz="4000" b="1" dirty="0"/>
              <a:t>Subsequent Work (DeepMind)</a:t>
            </a:r>
            <a:endParaRPr lang="de-DE" sz="4000" b="1" dirty="0"/>
          </a:p>
        </p:txBody>
      </p:sp>
      <p:pic>
        <p:nvPicPr>
          <p:cNvPr id="9" name="Content Placeholder 8">
            <a:hlinkClick r:id="rId2"/>
            <a:extLst>
              <a:ext uri="{FF2B5EF4-FFF2-40B4-BE49-F238E27FC236}">
                <a16:creationId xmlns:a16="http://schemas.microsoft.com/office/drawing/2014/main" id="{028489F1-C1E4-E583-DE81-71F61D270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389" y="1791461"/>
            <a:ext cx="8551221" cy="3719780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1703F-EED5-CE91-DF6E-B88A2216F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28AB6-7DA1-A3C4-4348-A921AE0C8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18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70CAE4-7E3F-9B97-3A92-7DB43F269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322" y="846689"/>
            <a:ext cx="7772400" cy="753511"/>
          </a:xfrm>
        </p:spPr>
        <p:txBody>
          <a:bodyPr>
            <a:normAutofit/>
          </a:bodyPr>
          <a:lstStyle/>
          <a:p>
            <a:r>
              <a:rPr lang="de-DE" sz="4000" b="1" dirty="0"/>
              <a:t>Questions?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0C95DC3-94FD-1D2C-81A1-3E82E1CB3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1F03A-88FB-6124-6C2B-3776D232ED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06B94-48AD-1CE5-3364-4B8266A1F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48</a:t>
            </a:fld>
            <a:endParaRPr lang="en-US" dirty="0"/>
          </a:p>
        </p:txBody>
      </p:sp>
      <p:pic>
        <p:nvPicPr>
          <p:cNvPr id="3" name="trim.0D25DACB-4739-4CF6-942E-A2235F03F587.MOV">
            <a:hlinkClick r:id="" action="ppaction://media"/>
            <a:extLst>
              <a:ext uri="{FF2B5EF4-FFF2-40B4-BE49-F238E27FC236}">
                <a16:creationId xmlns:a16="http://schemas.microsoft.com/office/drawing/2014/main" id="{7247E2BD-A0DC-9BB2-5E8D-CDCEFCEFE9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95618" y="1856644"/>
            <a:ext cx="3217808" cy="42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3496</Words>
  <Application>Microsoft Office PowerPoint</Application>
  <PresentationFormat>On-screen Show (4:3)</PresentationFormat>
  <Paragraphs>314</Paragraphs>
  <Slides>48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Aptos</vt:lpstr>
      <vt:lpstr>Aptos Body</vt:lpstr>
      <vt:lpstr>Aptos Display</vt:lpstr>
      <vt:lpstr>Arial</vt:lpstr>
      <vt:lpstr>Barlow</vt:lpstr>
      <vt:lpstr>Cambria Math</vt:lpstr>
      <vt:lpstr>Dela Gothic One</vt:lpstr>
      <vt:lpstr>Spectral</vt:lpstr>
      <vt:lpstr>Office Theme</vt:lpstr>
      <vt:lpstr>Playing Atari with Deep Reinforcement Learning</vt:lpstr>
      <vt:lpstr>Outline</vt:lpstr>
      <vt:lpstr>Overview</vt:lpstr>
      <vt:lpstr>Motivation - Why Raw Input?</vt:lpstr>
      <vt:lpstr>The RL Problem</vt:lpstr>
      <vt:lpstr>State</vt:lpstr>
      <vt:lpstr>State</vt:lpstr>
      <vt:lpstr>Exploration vs. Exploitation</vt:lpstr>
      <vt:lpstr>Q-Learning</vt:lpstr>
      <vt:lpstr>Q-Learning</vt:lpstr>
      <vt:lpstr>Approximate Q^∗ with a NN</vt:lpstr>
      <vt:lpstr>Gradient Descent</vt:lpstr>
      <vt:lpstr>Deep Q-Learning</vt:lpstr>
      <vt:lpstr>Deep Q-Learning</vt:lpstr>
      <vt:lpstr>State</vt:lpstr>
      <vt:lpstr>Training - feed in states and learn?</vt:lpstr>
      <vt:lpstr>Training - feed in states and learn?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DEEP Q-NETWORK ARCHITECTURE</vt:lpstr>
      <vt:lpstr>Gymnasium Atari Environments (ALE)</vt:lpstr>
      <vt:lpstr>Convolutional Neural Network</vt:lpstr>
      <vt:lpstr>Initialization and Loops</vt:lpstr>
      <vt:lpstr>Epsilon-Greedy Strategy</vt:lpstr>
      <vt:lpstr>Execute action and store in replay memory</vt:lpstr>
      <vt:lpstr>Sample Transaction and perform Gradient Descent</vt:lpstr>
      <vt:lpstr>How to compute Y (Optimal Q Prediction)</vt:lpstr>
      <vt:lpstr>Results</vt:lpstr>
      <vt:lpstr>Our Results (Pong)</vt:lpstr>
      <vt:lpstr>Our Results (Pong)</vt:lpstr>
      <vt:lpstr>Our Results (Pong)</vt:lpstr>
      <vt:lpstr>Our Results (PacMan)</vt:lpstr>
      <vt:lpstr>Limitations &amp; Subsequent Work</vt:lpstr>
      <vt:lpstr>Network Layout and Size</vt:lpstr>
      <vt:lpstr>Loss/Reward Calculation</vt:lpstr>
      <vt:lpstr>Limitations</vt:lpstr>
      <vt:lpstr>Subsequent Work (DeepMind)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Playing Atari with Deep Reinforcement Learning</dc:title>
  <dc:creator>Sebastian Rogg</dc:creator>
  <cp:lastModifiedBy>Sebastian Rogg</cp:lastModifiedBy>
  <cp:revision>30</cp:revision>
  <dcterms:created xsi:type="dcterms:W3CDTF">2025-07-05T20:31:21Z</dcterms:created>
  <dcterms:modified xsi:type="dcterms:W3CDTF">2025-07-16T16:13:24Z</dcterms:modified>
</cp:coreProperties>
</file>